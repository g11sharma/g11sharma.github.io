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This session prepares entity controllers for the half-year close in Lumen Consol. We will walk through the ten steps of the close, then practise on the training data set (H1 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outcomes for the session. The agenda alternates short explanations with hands-on work in the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whole close on one page. D+n means working days after the period end. The target is a close at day 8, four days earlier than last year. Steps 1 to 3 and 6 are yours; the group team drives the others.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Who does what during the close. The key control is segregation of duties: the person who approves a journal cannot post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1. Tabs follow the order of the close. The scope shows each company, the share held and its status. Only the group team runs the consolidation.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Steps 2 and 3. The package is in the entity's own currency. The intercompany lines are the most important data in the package: without the partner, the flow cannot be eliminated.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4. The group team loads the rates; you check your translated figures. The translation reserve is not a gain or a loss: it goes to other comprehensive income.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5. Each intercompany flow is shown once, with both sides converted to euros. The only difference above tolerance is the invoice in transit between France and the 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6. We never edit the submitted package. A journal at Entity Input, in the entity's currency, adds the missing invoice and keeps a trace of who changed what and why.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7. The workflow has four states. The approver can reject with a reason. Posting is done by a different person from the approver: this is the segregation of duties the auditors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8. The group team runs the consolidation. Everything is recalculated in one pass. If anything changes afterwards, the entity turns to Impacted and the consolidation must run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9. Read the key figures first, then the four checks. On the training data, the in-transit invoice leaves one check open until the journal is posted and the group is consolidated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10. The group team completes the checklist; the CFO signs off. After sign-off, any change needs a formal reopening request.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exercises on the training data set, fifteen minutes each. The expected results let everyone check their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six mistakes we see most often in the first closes, and the habit that avoids each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to get help, and what comes next: the November parallel run, then the year-end close in FCCS.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822960"/>
            <a:ext cx="4937760" cy="4937760"/>
          </a:xfrm>
          <a:prstGeom prst="ellipse">
            <a:avLst/>
          </a:prstGeom>
          <a:solidFill>
            <a:srgbClr val="B8741A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1645920"/>
            <a:ext cx="3291840" cy="3291840"/>
          </a:xfrm>
          <a:prstGeom prst="ellipse">
            <a:avLst/>
          </a:prstGeom>
          <a:solidFill>
            <a:srgbClr val="B8741A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55480" y="2514600"/>
            <a:ext cx="1554480" cy="1554480"/>
          </a:xfrm>
          <a:prstGeom prst="ellipse">
            <a:avLst/>
          </a:prstGeom>
          <a:solidFill>
            <a:srgbClr val="E9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400" b="1" i="0">
                <a:solidFill>
                  <a:srgbClr val="E9B866"/>
                </a:solidFill>
                <a:latin typeface="Calibri"/>
              </a:rPr>
              <a:t>MAISON LUMEN GROUP · LUMEN CONSOL (ORACLE FCCS)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7589520" cy="1737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4600" b="1" i="0">
                <a:solidFill>
                  <a:srgbClr val="FFFFFF"/>
                </a:solidFill>
                <a:latin typeface="Cambria"/>
              </a:rPr>
              <a:t>The half-year close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4600" b="1" i="0">
                <a:solidFill>
                  <a:srgbClr val="FFFFFF"/>
                </a:solidFill>
                <a:latin typeface="Cambria"/>
              </a:rPr>
              <a:t>in 10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069080"/>
            <a:ext cx="694944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000" b="0" i="0">
                <a:solidFill>
                  <a:srgbClr val="D6DCE3"/>
                </a:solidFill>
                <a:latin typeface="Calibri"/>
              </a:rPr>
              <a:t>End-user training for entity controllers · training data set: H1 2026 close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9AA6B2"/>
                </a:solidFill>
                <a:latin typeface="Calibri"/>
              </a:rPr>
              <a:t>Training pack v1.0 · Prepared by Gaurav Sharma, EPM consultant · Fictional group and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200" b="1" i="0">
                <a:solidFill>
                  <a:srgbClr val="B8741A"/>
                </a:solidFill>
                <a:latin typeface="Calibri"/>
              </a:rPr>
              <a:t>WELCOME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800" b="1" i="0">
                <a:solidFill>
                  <a:srgbClr val="1C2530"/>
                </a:solidFill>
                <a:latin typeface="Cambria"/>
              </a:rPr>
              <a:t>What you will be able to do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600200"/>
            <a:ext cx="438912" cy="438912"/>
          </a:xfrm>
          <a:prstGeom prst="ellipse">
            <a:avLst/>
          </a:prstGeom>
          <a:solidFill>
            <a:srgbClr val="B87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581912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800" b="1" i="0">
                <a:solidFill>
                  <a:srgbClr val="1C2530"/>
                </a:solidFill>
                <a:latin typeface="Calibri"/>
              </a:rPr>
              <a:t>Prepare and check your entity's package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929384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500" b="0" i="0">
                <a:solidFill>
                  <a:srgbClr val="5B6673"/>
                </a:solidFill>
                <a:latin typeface="Calibri"/>
              </a:rPr>
              <a:t>Local data in your currency, intercompany detail, balance checks.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697480"/>
            <a:ext cx="438912" cy="438912"/>
          </a:xfrm>
          <a:prstGeom prst="ellipse">
            <a:avLst/>
          </a:prstGeom>
          <a:solidFill>
            <a:srgbClr val="B87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697480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679192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800" b="1" i="0">
                <a:solidFill>
                  <a:srgbClr val="1C2530"/>
                </a:solidFill>
                <a:latin typeface="Calibri"/>
              </a:rPr>
              <a:t>Resolve intercompany differences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026664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500" b="0" i="0">
                <a:solidFill>
                  <a:srgbClr val="5B6673"/>
                </a:solidFill>
                <a:latin typeface="Calibri"/>
              </a:rPr>
              <a:t>Read the matching report and correct with a journal, not by editing data.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794760"/>
            <a:ext cx="438912" cy="438912"/>
          </a:xfrm>
          <a:prstGeom prst="ellipse">
            <a:avLst/>
          </a:prstGeom>
          <a:solidFill>
            <a:srgbClr val="B87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794760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776472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800" b="1" i="0">
                <a:solidFill>
                  <a:srgbClr val="1C2530"/>
                </a:solidFill>
                <a:latin typeface="Calibri"/>
              </a:rPr>
              <a:t>Follow the journal workflow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123944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500" b="0" i="0">
                <a:solidFill>
                  <a:srgbClr val="5B6673"/>
                </a:solidFill>
                <a:latin typeface="Calibri"/>
              </a:rPr>
              <a:t>Prepare, scan, submit, get approval, post.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4892040"/>
            <a:ext cx="438912" cy="438912"/>
          </a:xfrm>
          <a:prstGeom prst="ellipse">
            <a:avLst/>
          </a:prstGeom>
          <a:solidFill>
            <a:srgbClr val="B87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92040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873752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800" b="1" i="0">
                <a:solidFill>
                  <a:srgbClr val="1C2530"/>
                </a:solidFill>
                <a:latin typeface="Calibri"/>
              </a:rPr>
              <a:t>Read the consolidated results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221224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500" b="0" i="0">
                <a:solidFill>
                  <a:srgbClr val="5B6673"/>
                </a:solidFill>
                <a:latin typeface="Calibri"/>
              </a:rPr>
              <a:t>Worksheet, statements and the four close checks.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79" y="1600200"/>
            <a:ext cx="4142232" cy="4343400"/>
          </a:xfrm>
          <a:prstGeom prst="roundRect">
            <a:avLst>
              <a:gd name="adj" fmla="val 2649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18120" y="182880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700" b="1" i="0">
                <a:solidFill>
                  <a:srgbClr val="1C2530"/>
                </a:solidFill>
                <a:latin typeface="Cambria"/>
              </a:rPr>
              <a:t>Agenda · 2 hours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237744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500" b="1" i="0">
                <a:solidFill>
                  <a:srgbClr val="2F5D62"/>
                </a:solidFill>
                <a:latin typeface="Calibri"/>
              </a:rPr>
              <a:t>09:30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23774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500" b="0" i="0">
                <a:solidFill>
                  <a:srgbClr val="1C2530"/>
                </a:solidFill>
                <a:latin typeface="Calibri"/>
              </a:rPr>
              <a:t>The close process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0" y="237744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  <a:buNone/>
            </a:pPr>
            <a:r>
              <a:rPr sz="1300" b="0" i="0">
                <a:solidFill>
                  <a:srgbClr val="5B6673"/>
                </a:solidFill>
                <a:latin typeface="Calibri"/>
              </a:rPr>
              <a:t>20 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8120" y="294436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500" b="1" i="0">
                <a:solidFill>
                  <a:srgbClr val="2F5D62"/>
                </a:solidFill>
                <a:latin typeface="Calibri"/>
              </a:rPr>
              <a:t>09:50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294436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500" b="0" i="0">
                <a:solidFill>
                  <a:srgbClr val="1C2530"/>
                </a:solidFill>
                <a:latin typeface="Calibri"/>
              </a:rPr>
              <a:t>Hands-on in Lumen Consol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2944368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  <a:buNone/>
            </a:pPr>
            <a:r>
              <a:rPr sz="1300" b="0" i="0">
                <a:solidFill>
                  <a:srgbClr val="5B6673"/>
                </a:solidFill>
                <a:latin typeface="Calibri"/>
              </a:rPr>
              <a:t>60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8120" y="351129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500" b="1" i="0">
                <a:solidFill>
                  <a:srgbClr val="2F5D62"/>
                </a:solidFill>
                <a:latin typeface="Calibri"/>
              </a:rPr>
              <a:t>10:50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3511296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500" b="0" i="0">
                <a:solidFill>
                  <a:srgbClr val="1C2530"/>
                </a:solidFill>
                <a:latin typeface="Calibri"/>
              </a:rPr>
              <a:t>Two exercises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98480" y="3511296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  <a:buNone/>
            </a:pPr>
            <a:r>
              <a:rPr sz="1300" b="0" i="0">
                <a:solidFill>
                  <a:srgbClr val="5B6673"/>
                </a:solidFill>
                <a:latin typeface="Calibri"/>
              </a:rPr>
              <a:t>30 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18120" y="407822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500" b="1" i="0">
                <a:solidFill>
                  <a:srgbClr val="2F5D62"/>
                </a:solidFill>
                <a:latin typeface="Calibri"/>
              </a:rPr>
              <a:t>11:20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407822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500" b="0" i="0">
                <a:solidFill>
                  <a:srgbClr val="1C2530"/>
                </a:solidFill>
                <a:latin typeface="Calibri"/>
              </a:rPr>
              <a:t>Questions and support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4078224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  <a:buNone/>
            </a:pPr>
            <a:r>
              <a:rPr sz="1300" b="0" i="0">
                <a:solidFill>
                  <a:srgbClr val="5B6673"/>
                </a:solidFill>
                <a:latin typeface="Calibri"/>
              </a:rPr>
              <a:t>10 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18120" y="4983480"/>
            <a:ext cx="356616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00" b="0" i="0">
                <a:solidFill>
                  <a:srgbClr val="5B6673"/>
                </a:solidFill>
                <a:latin typeface="Calibri"/>
              </a:rPr>
              <a:t>Bring: your entity's H1 package and the list of your intercompany partners.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1908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5B6673"/>
                </a:solidFill>
                <a:latin typeface="Calibri"/>
              </a:rPr>
              <a:t>Lumen Consol · The half-year close in 10 steps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25912" y="641908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5B6673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200" b="1" i="0">
                <a:solidFill>
                  <a:srgbClr val="B8741A"/>
                </a:solidFill>
                <a:latin typeface="Calibri"/>
              </a:rPr>
              <a:t>THE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800" b="1" i="0">
                <a:solidFill>
                  <a:srgbClr val="1C2530"/>
                </a:solidFill>
                <a:latin typeface="Cambria"/>
              </a:rPr>
              <a:t>The close at a glance: 10 steps, 8 working days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2103120" cy="1938528"/>
          </a:xfrm>
          <a:prstGeom prst="roundRect">
            <a:avLst>
              <a:gd name="adj" fmla="val 4716"/>
            </a:avLst>
          </a:prstGeom>
          <a:solidFill>
            <a:srgbClr val="FB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691639"/>
            <a:ext cx="420624" cy="420624"/>
          </a:xfrm>
          <a:prstGeom prst="ellipse">
            <a:avLst/>
          </a:prstGeom>
          <a:solidFill>
            <a:srgbClr val="B87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39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19" y="1755648"/>
            <a:ext cx="82296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  <a:buNone/>
            </a:pPr>
            <a:r>
              <a:rPr sz="1500" b="1" i="0">
                <a:solidFill>
                  <a:srgbClr val="2F5D62"/>
                </a:solidFill>
                <a:latin typeface="Calibri"/>
              </a:rPr>
              <a:t>D+1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17373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500" b="1" i="0">
                <a:solidFill>
                  <a:srgbClr val="1C2530"/>
                </a:solidFill>
                <a:latin typeface="Calibri"/>
              </a:rPr>
              <a:t>Log in, check your point of 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90088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5B6673"/>
                </a:solidFill>
                <a:latin typeface="Calibri"/>
              </a:rPr>
              <a:t>Entity controller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93491" y="1508760"/>
            <a:ext cx="2103120" cy="1938528"/>
          </a:xfrm>
          <a:prstGeom prst="roundRect">
            <a:avLst>
              <a:gd name="adj" fmla="val 4716"/>
            </a:avLst>
          </a:prstGeom>
          <a:solidFill>
            <a:srgbClr val="FB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976372" y="1691639"/>
            <a:ext cx="420624" cy="420624"/>
          </a:xfrm>
          <a:prstGeom prst="ellipse">
            <a:avLst/>
          </a:prstGeom>
          <a:solidFill>
            <a:srgbClr val="B87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76372" y="1691639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90772" y="1755648"/>
            <a:ext cx="82296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  <a:buNone/>
            </a:pPr>
            <a:r>
              <a:rPr sz="1500" b="1" i="0">
                <a:solidFill>
                  <a:srgbClr val="2F5D62"/>
                </a:solidFill>
                <a:latin typeface="Calibri"/>
              </a:rPr>
              <a:t>D+2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6372" y="2240280"/>
            <a:ext cx="17373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500" b="1" i="0">
                <a:solidFill>
                  <a:srgbClr val="1C2530"/>
                </a:solidFill>
                <a:latin typeface="Calibri"/>
              </a:rPr>
              <a:t>Review your local package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6372" y="2990088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5B6673"/>
                </a:solidFill>
                <a:latin typeface="Calibri"/>
              </a:rPr>
              <a:t>Entity controller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38343" y="1508760"/>
            <a:ext cx="2103120" cy="1938528"/>
          </a:xfrm>
          <a:prstGeom prst="roundRect">
            <a:avLst>
              <a:gd name="adj" fmla="val 4716"/>
            </a:avLst>
          </a:prstGeom>
          <a:solidFill>
            <a:srgbClr val="FB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221223" y="1691639"/>
            <a:ext cx="420624" cy="420624"/>
          </a:xfrm>
          <a:prstGeom prst="ellipse">
            <a:avLst/>
          </a:prstGeom>
          <a:solidFill>
            <a:srgbClr val="B87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21223" y="1691639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35623" y="1755648"/>
            <a:ext cx="82296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  <a:buNone/>
            </a:pPr>
            <a:r>
              <a:rPr sz="1500" b="1" i="0">
                <a:solidFill>
                  <a:srgbClr val="2F5D62"/>
                </a:solidFill>
                <a:latin typeface="Calibri"/>
              </a:rPr>
              <a:t>D+2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21223" y="2240280"/>
            <a:ext cx="17373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500" b="1" i="0">
                <a:solidFill>
                  <a:srgbClr val="1C2530"/>
                </a:solidFill>
                <a:latin typeface="Calibri"/>
              </a:rPr>
              <a:t>Complete the intercompany detail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1223" y="2990088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5B6673"/>
                </a:solidFill>
                <a:latin typeface="Calibri"/>
              </a:rPr>
              <a:t>Entity controller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83195" y="1508760"/>
            <a:ext cx="2103120" cy="1938528"/>
          </a:xfrm>
          <a:prstGeom prst="roundRect">
            <a:avLst>
              <a:gd name="adj" fmla="val 4716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466075" y="1691639"/>
            <a:ext cx="420624" cy="420624"/>
          </a:xfrm>
          <a:prstGeom prst="ellipse">
            <a:avLst/>
          </a:prstGeom>
          <a:solidFill>
            <a:srgbClr val="B87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66075" y="1691639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0475" y="1755648"/>
            <a:ext cx="82296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  <a:buNone/>
            </a:pPr>
            <a:r>
              <a:rPr sz="1500" b="1" i="0">
                <a:solidFill>
                  <a:srgbClr val="2F5D62"/>
                </a:solidFill>
                <a:latin typeface="Calibri"/>
              </a:rPr>
              <a:t>D+3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66075" y="2240280"/>
            <a:ext cx="17373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500" b="1" i="0">
                <a:solidFill>
                  <a:srgbClr val="1C2530"/>
                </a:solidFill>
                <a:latin typeface="Calibri"/>
              </a:rPr>
              <a:t>Check exchange rates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66075" y="2990088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5B6673"/>
                </a:solidFill>
                <a:latin typeface="Calibri"/>
              </a:rPr>
              <a:t>Group consolidation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28047" y="1508760"/>
            <a:ext cx="2103120" cy="1938528"/>
          </a:xfrm>
          <a:prstGeom prst="roundRect">
            <a:avLst>
              <a:gd name="adj" fmla="val 4716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710927" y="1691639"/>
            <a:ext cx="420624" cy="420624"/>
          </a:xfrm>
          <a:prstGeom prst="ellipse">
            <a:avLst/>
          </a:prstGeom>
          <a:solidFill>
            <a:srgbClr val="B87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10927" y="1691639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25327" y="1755648"/>
            <a:ext cx="82296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  <a:buNone/>
            </a:pPr>
            <a:r>
              <a:rPr sz="1500" b="1" i="0">
                <a:solidFill>
                  <a:srgbClr val="2F5D62"/>
                </a:solidFill>
                <a:latin typeface="Calibri"/>
              </a:rPr>
              <a:t>D+3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10927" y="2240280"/>
            <a:ext cx="17373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500" b="1" i="0">
                <a:solidFill>
                  <a:srgbClr val="1C2530"/>
                </a:solidFill>
                <a:latin typeface="Calibri"/>
              </a:rPr>
              <a:t>Match intercompany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10927" y="2990088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5B6673"/>
                </a:solidFill>
                <a:latin typeface="Calibri"/>
              </a:rPr>
              <a:t>Group consolidation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3721608"/>
            <a:ext cx="2103120" cy="1938528"/>
          </a:xfrm>
          <a:prstGeom prst="roundRect">
            <a:avLst>
              <a:gd name="adj" fmla="val 4716"/>
            </a:avLst>
          </a:prstGeom>
          <a:solidFill>
            <a:srgbClr val="FB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31520" y="3904488"/>
            <a:ext cx="420624" cy="420624"/>
          </a:xfrm>
          <a:prstGeom prst="ellipse">
            <a:avLst/>
          </a:prstGeom>
          <a:solidFill>
            <a:srgbClr val="B87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3904488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45919" y="396849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  <a:buNone/>
            </a:pPr>
            <a:r>
              <a:rPr sz="1500" b="1" i="0">
                <a:solidFill>
                  <a:srgbClr val="2F5D62"/>
                </a:solidFill>
                <a:latin typeface="Calibri"/>
              </a:rPr>
              <a:t>D+4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4453128"/>
            <a:ext cx="17373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500" b="1" i="0">
                <a:solidFill>
                  <a:srgbClr val="1C2530"/>
                </a:solidFill>
                <a:latin typeface="Calibri"/>
              </a:rPr>
              <a:t>Correct with a journal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5202936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5B6673"/>
                </a:solidFill>
                <a:latin typeface="Calibri"/>
              </a:rPr>
              <a:t>Entity controller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793491" y="3721608"/>
            <a:ext cx="2103120" cy="1938528"/>
          </a:xfrm>
          <a:prstGeom prst="roundRect">
            <a:avLst>
              <a:gd name="adj" fmla="val 4716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976372" y="3904488"/>
            <a:ext cx="420624" cy="420624"/>
          </a:xfrm>
          <a:prstGeom prst="ellipse">
            <a:avLst/>
          </a:prstGeom>
          <a:solidFill>
            <a:srgbClr val="B87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976372" y="3904488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90772" y="396849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  <a:buNone/>
            </a:pPr>
            <a:r>
              <a:rPr sz="1500" b="1" i="0">
                <a:solidFill>
                  <a:srgbClr val="2F5D62"/>
                </a:solidFill>
                <a:latin typeface="Calibri"/>
              </a:rPr>
              <a:t>D+4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76372" y="4453128"/>
            <a:ext cx="17373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500" b="1" i="0">
                <a:solidFill>
                  <a:srgbClr val="1C2530"/>
                </a:solidFill>
                <a:latin typeface="Calibri"/>
              </a:rPr>
              <a:t>Approve and post journals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76372" y="5202936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5B6673"/>
                </a:solidFill>
                <a:latin typeface="Calibri"/>
              </a:rPr>
              <a:t>CFO, then preparer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038343" y="3721608"/>
            <a:ext cx="2103120" cy="1938528"/>
          </a:xfrm>
          <a:prstGeom prst="roundRect">
            <a:avLst>
              <a:gd name="adj" fmla="val 4716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221223" y="3904488"/>
            <a:ext cx="420624" cy="420624"/>
          </a:xfrm>
          <a:prstGeom prst="ellipse">
            <a:avLst/>
          </a:prstGeom>
          <a:solidFill>
            <a:srgbClr val="B87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221223" y="3904488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35623" y="396849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  <a:buNone/>
            </a:pPr>
            <a:r>
              <a:rPr sz="1500" b="1" i="0">
                <a:solidFill>
                  <a:srgbClr val="2F5D62"/>
                </a:solidFill>
                <a:latin typeface="Calibri"/>
              </a:rPr>
              <a:t>D+5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21223" y="4453128"/>
            <a:ext cx="17373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500" b="1" i="0">
                <a:solidFill>
                  <a:srgbClr val="1C2530"/>
                </a:solidFill>
                <a:latin typeface="Calibri"/>
              </a:rPr>
              <a:t>Run the consolidation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21223" y="5202936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5B6673"/>
                </a:solidFill>
                <a:latin typeface="Calibri"/>
              </a:rPr>
              <a:t>Group consolidation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283195" y="3721608"/>
            <a:ext cx="2103120" cy="1938528"/>
          </a:xfrm>
          <a:prstGeom prst="roundRect">
            <a:avLst>
              <a:gd name="adj" fmla="val 4716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466075" y="3904488"/>
            <a:ext cx="420624" cy="420624"/>
          </a:xfrm>
          <a:prstGeom prst="ellipse">
            <a:avLst/>
          </a:prstGeom>
          <a:solidFill>
            <a:srgbClr val="B87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466075" y="3904488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80475" y="396849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  <a:buNone/>
            </a:pPr>
            <a:r>
              <a:rPr sz="1500" b="1" i="0">
                <a:solidFill>
                  <a:srgbClr val="2F5D62"/>
                </a:solidFill>
                <a:latin typeface="Calibri"/>
              </a:rPr>
              <a:t>D+6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66075" y="4453128"/>
            <a:ext cx="17373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500" b="1" i="0">
                <a:solidFill>
                  <a:srgbClr val="1C2530"/>
                </a:solidFill>
                <a:latin typeface="Calibri"/>
              </a:rPr>
              <a:t>Review statements and checks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466075" y="5202936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5B6673"/>
                </a:solidFill>
                <a:latin typeface="Calibri"/>
              </a:rPr>
              <a:t>Group consolidation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528047" y="3721608"/>
            <a:ext cx="2103120" cy="1938528"/>
          </a:xfrm>
          <a:prstGeom prst="roundRect">
            <a:avLst>
              <a:gd name="adj" fmla="val 4716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9710927" y="3904488"/>
            <a:ext cx="420624" cy="420624"/>
          </a:xfrm>
          <a:prstGeom prst="ellipse">
            <a:avLst/>
          </a:prstGeom>
          <a:solidFill>
            <a:srgbClr val="B87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710927" y="3904488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625327" y="396849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  <a:buNone/>
            </a:pPr>
            <a:r>
              <a:rPr sz="1500" b="1" i="0">
                <a:solidFill>
                  <a:srgbClr val="2F5D62"/>
                </a:solidFill>
                <a:latin typeface="Calibri"/>
              </a:rPr>
              <a:t>D+8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710927" y="4453128"/>
            <a:ext cx="17373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500" b="1" i="0">
                <a:solidFill>
                  <a:srgbClr val="1C2530"/>
                </a:solidFill>
                <a:latin typeface="Calibri"/>
              </a:rPr>
              <a:t>Sign off the close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710927" y="5202936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5B6673"/>
                </a:solidFill>
                <a:latin typeface="Calibri"/>
              </a:rPr>
              <a:t>CFO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48640" y="5989320"/>
            <a:ext cx="201168" cy="201168"/>
          </a:xfrm>
          <a:prstGeom prst="roundRect">
            <a:avLst>
              <a:gd name="adj" fmla="val 18181"/>
            </a:avLst>
          </a:prstGeom>
          <a:solidFill>
            <a:srgbClr val="FB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41248" y="59618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5B6673"/>
                </a:solidFill>
                <a:latin typeface="Calibri"/>
              </a:rPr>
              <a:t>Your steps as entity controller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8640" y="641908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5B6673"/>
                </a:solidFill>
                <a:latin typeface="Calibri"/>
              </a:rPr>
              <a:t>Lumen Consol · The half-year close in 10 steps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725912" y="641908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5B6673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200" b="1" i="0">
                <a:solidFill>
                  <a:srgbClr val="B8741A"/>
                </a:solidFill>
                <a:latin typeface="Calibri"/>
              </a:rPr>
              <a:t>ROLES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800" b="1" i="0">
                <a:solidFill>
                  <a:srgbClr val="1C2530"/>
                </a:solidFill>
                <a:latin typeface="Cambria"/>
              </a:rPr>
              <a:t>Who does what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5468112" cy="2212848"/>
          </a:xfrm>
          <a:prstGeom prst="roundRect">
            <a:avLst>
              <a:gd name="adj" fmla="val 4958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59" y="1783080"/>
            <a:ext cx="658368" cy="658368"/>
          </a:xfrm>
          <a:prstGeom prst="ellipse">
            <a:avLst/>
          </a:prstGeom>
          <a:solidFill>
            <a:srgbClr val="2F5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783080"/>
            <a:ext cx="658368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EC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892807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800" b="1" i="0">
                <a:solidFill>
                  <a:srgbClr val="1C2530"/>
                </a:solidFill>
                <a:latin typeface="Calibri"/>
              </a:rPr>
              <a:t>Entity controller (you)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377439"/>
            <a:ext cx="411480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19456" indent="-219456">
              <a:lnSpc>
                <a:spcPct val="112000"/>
              </a:lnSpc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1C2530"/>
                </a:solidFill>
                <a:latin typeface="Calibri"/>
              </a:rPr>
              <a:t>Submits the local package in local currency</a:t>
            </a:r>
          </a:p>
          <a:p>
            <a:pPr algn="l" marL="219456" indent="-219456">
              <a:lnSpc>
                <a:spcPct val="112000"/>
              </a:lnSpc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1C2530"/>
                </a:solidFill>
                <a:latin typeface="Calibri"/>
              </a:rPr>
              <a:t>Details every intercompany balance by partner</a:t>
            </a:r>
          </a:p>
          <a:p>
            <a:pPr algn="l" marL="219456" indent="-219456">
              <a:lnSpc>
                <a:spcPct val="112000"/>
              </a:lnSpc>
              <a:spcAft>
                <a:spcPts val="0"/>
              </a:spcAft>
              <a:buFont typeface="Arial"/>
              <a:buChar char="•"/>
            </a:pPr>
            <a:r>
              <a:rPr sz="1400" b="0" i="0">
                <a:solidFill>
                  <a:srgbClr val="1C2530"/>
                </a:solidFill>
                <a:latin typeface="Calibri"/>
              </a:rPr>
              <a:t>Prepares correcting journals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508760"/>
            <a:ext cx="5468112" cy="2212848"/>
          </a:xfrm>
          <a:prstGeom prst="roundRect">
            <a:avLst>
              <a:gd name="adj" fmla="val 4958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46520" y="1783080"/>
            <a:ext cx="658368" cy="658368"/>
          </a:xfrm>
          <a:prstGeom prst="ellipse">
            <a:avLst/>
          </a:prstGeom>
          <a:solidFill>
            <a:srgbClr val="2F5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783080"/>
            <a:ext cx="658368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GC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892807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800" b="1" i="0">
                <a:solidFill>
                  <a:srgbClr val="1C2530"/>
                </a:solidFill>
                <a:latin typeface="Calibri"/>
              </a:rPr>
              <a:t>Group consolidation 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377439"/>
            <a:ext cx="411480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19456" indent="-219456">
              <a:lnSpc>
                <a:spcPct val="112000"/>
              </a:lnSpc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1C2530"/>
                </a:solidFill>
                <a:latin typeface="Calibri"/>
              </a:rPr>
              <a:t>Loads the exchange rates</a:t>
            </a:r>
          </a:p>
          <a:p>
            <a:pPr algn="l" marL="219456" indent="-219456">
              <a:lnSpc>
                <a:spcPct val="112000"/>
              </a:lnSpc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1C2530"/>
                </a:solidFill>
                <a:latin typeface="Calibri"/>
              </a:rPr>
              <a:t>Runs intercompany matching and the consolidation</a:t>
            </a:r>
          </a:p>
          <a:p>
            <a:pPr algn="l" marL="219456" indent="-219456">
              <a:lnSpc>
                <a:spcPct val="112000"/>
              </a:lnSpc>
              <a:spcAft>
                <a:spcPts val="0"/>
              </a:spcAft>
              <a:buFont typeface="Arial"/>
              <a:buChar char="•"/>
            </a:pPr>
            <a:r>
              <a:rPr sz="1400" b="0" i="0">
                <a:solidFill>
                  <a:srgbClr val="1C2530"/>
                </a:solidFill>
                <a:latin typeface="Calibri"/>
              </a:rPr>
              <a:t>Reviews results and the close checks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04487"/>
            <a:ext cx="5468112" cy="2212848"/>
          </a:xfrm>
          <a:prstGeom prst="roundRect">
            <a:avLst>
              <a:gd name="adj" fmla="val 4958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2959" y="4178807"/>
            <a:ext cx="658368" cy="658368"/>
          </a:xfrm>
          <a:prstGeom prst="ellipse">
            <a:avLst/>
          </a:prstGeom>
          <a:solidFill>
            <a:srgbClr val="2F5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4178807"/>
            <a:ext cx="658368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Calibri"/>
              </a:rPr>
              <a:t>CFO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4288536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800" b="1" i="0">
                <a:solidFill>
                  <a:srgbClr val="1C2530"/>
                </a:solidFill>
                <a:latin typeface="Calibri"/>
              </a:rPr>
              <a:t>Approver (CFO)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4773168"/>
            <a:ext cx="411480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19456" indent="-219456">
              <a:lnSpc>
                <a:spcPct val="112000"/>
              </a:lnSpc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1C2530"/>
                </a:solidFill>
                <a:latin typeface="Calibri"/>
              </a:rPr>
              <a:t>Approves or rejects journals, with a reason</a:t>
            </a:r>
          </a:p>
          <a:p>
            <a:pPr algn="l" marL="219456" indent="-219456">
              <a:lnSpc>
                <a:spcPct val="112000"/>
              </a:lnSpc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1C2530"/>
                </a:solidFill>
                <a:latin typeface="Calibri"/>
              </a:rPr>
              <a:t>Signs off the consolidated figures</a:t>
            </a:r>
          </a:p>
          <a:p>
            <a:pPr algn="l" marL="219456" indent="-219456">
              <a:lnSpc>
                <a:spcPct val="112000"/>
              </a:lnSpc>
              <a:spcAft>
                <a:spcPts val="0"/>
              </a:spcAft>
              <a:buFont typeface="Arial"/>
              <a:buChar char="•"/>
            </a:pPr>
            <a:r>
              <a:rPr sz="1400" b="0" i="0">
                <a:solidFill>
                  <a:srgbClr val="1C2530"/>
                </a:solidFill>
                <a:latin typeface="Calibri"/>
              </a:rPr>
              <a:t>Never posts a journal they approved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904487"/>
            <a:ext cx="5468112" cy="2212848"/>
          </a:xfrm>
          <a:prstGeom prst="roundRect">
            <a:avLst>
              <a:gd name="adj" fmla="val 4958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178807"/>
            <a:ext cx="658368" cy="658368"/>
          </a:xfrm>
          <a:prstGeom prst="ellipse">
            <a:avLst/>
          </a:prstGeom>
          <a:solidFill>
            <a:srgbClr val="2F5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178807"/>
            <a:ext cx="658368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AU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4288536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800" b="1" i="0">
                <a:solidFill>
                  <a:srgbClr val="1C2530"/>
                </a:solidFill>
                <a:latin typeface="Calibri"/>
              </a:rPr>
              <a:t>Statutory auditors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4773168"/>
            <a:ext cx="411480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19456" indent="-219456">
              <a:lnSpc>
                <a:spcPct val="112000"/>
              </a:lnSpc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1C2530"/>
                </a:solidFill>
                <a:latin typeface="Calibri"/>
              </a:rPr>
              <a:t>Consulted on consolidation rules</a:t>
            </a:r>
          </a:p>
          <a:p>
            <a:pPr algn="l" marL="219456" indent="-219456">
              <a:lnSpc>
                <a:spcPct val="112000"/>
              </a:lnSpc>
              <a:spcAft>
                <a:spcPts val="0"/>
              </a:spcAft>
              <a:buFont typeface="Arial"/>
              <a:buChar char="•"/>
            </a:pPr>
            <a:r>
              <a:rPr sz="1400" b="0" i="0">
                <a:solidFill>
                  <a:srgbClr val="1C2530"/>
                </a:solidFill>
                <a:latin typeface="Calibri"/>
              </a:rPr>
              <a:t>Review journals and checks at the half-year 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1908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5B6673"/>
                </a:solidFill>
                <a:latin typeface="Calibri"/>
              </a:rPr>
              <a:t>Lumen Consol · The half-year close in 10 steps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25912" y="641908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5B6673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200" b="1" i="0">
                <a:solidFill>
                  <a:srgbClr val="B8741A"/>
                </a:solidFill>
                <a:latin typeface="Calibri"/>
              </a:rPr>
              <a:t>STEP 1 · D+1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800" b="1" i="0">
                <a:solidFill>
                  <a:srgbClr val="1C2530"/>
                </a:solidFill>
                <a:latin typeface="Cambria"/>
              </a:rPr>
              <a:t>Find your way around</a:t>
            </a:r>
          </a:p>
        </p:txBody>
      </p:sp>
      <p:pic>
        <p:nvPicPr>
          <p:cNvPr id="4" name="Picture 3" descr="shot-gro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7223760" cy="4514850"/>
          </a:xfrm>
          <a:prstGeom prst="rect">
            <a:avLst/>
          </a:prstGeom>
          <a:ln w="12700">
            <a:solidFill>
              <a:srgbClr val="D5DAE0"/>
            </a:solidFill>
          </a:ln>
        </p:spPr>
      </p:pic>
      <p:sp>
        <p:nvSpPr>
          <p:cNvPr id="5" name="Oval 4"/>
          <p:cNvSpPr/>
          <p:nvPr/>
        </p:nvSpPr>
        <p:spPr>
          <a:xfrm>
            <a:off x="7341989" y="1843891"/>
            <a:ext cx="329184" cy="329184"/>
          </a:xfrm>
          <a:prstGeom prst="ellipse">
            <a:avLst/>
          </a:prstGeom>
          <a:solidFill>
            <a:srgbClr val="B87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41989" y="1843891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Oval 6"/>
          <p:cNvSpPr/>
          <p:nvPr/>
        </p:nvSpPr>
        <p:spPr>
          <a:xfrm>
            <a:off x="930973" y="2678906"/>
            <a:ext cx="329184" cy="329184"/>
          </a:xfrm>
          <a:prstGeom prst="ellipse">
            <a:avLst/>
          </a:prstGeom>
          <a:solidFill>
            <a:srgbClr val="B87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0973" y="2678906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Oval 8"/>
          <p:cNvSpPr/>
          <p:nvPr/>
        </p:nvSpPr>
        <p:spPr>
          <a:xfrm>
            <a:off x="6256005" y="2179683"/>
            <a:ext cx="329184" cy="329184"/>
          </a:xfrm>
          <a:prstGeom prst="ellipse">
            <a:avLst/>
          </a:prstGeom>
          <a:solidFill>
            <a:srgbClr val="B87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56005" y="2179683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Oval 10"/>
          <p:cNvSpPr/>
          <p:nvPr/>
        </p:nvSpPr>
        <p:spPr>
          <a:xfrm>
            <a:off x="5989472" y="1310895"/>
            <a:ext cx="329184" cy="329184"/>
          </a:xfrm>
          <a:prstGeom prst="ellipse">
            <a:avLst/>
          </a:prstGeom>
          <a:solidFill>
            <a:srgbClr val="B87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89472" y="1310895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Oval 12"/>
          <p:cNvSpPr/>
          <p:nvPr/>
        </p:nvSpPr>
        <p:spPr>
          <a:xfrm>
            <a:off x="8092440" y="1463040"/>
            <a:ext cx="329184" cy="329184"/>
          </a:xfrm>
          <a:prstGeom prst="ellipse">
            <a:avLst/>
          </a:prstGeom>
          <a:solidFill>
            <a:srgbClr val="B87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146304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1481328"/>
            <a:ext cx="3090672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400" b="1" i="0">
                <a:solidFill>
                  <a:srgbClr val="1C2530"/>
                </a:solidFill>
                <a:latin typeface="Calibri"/>
              </a:rPr>
              <a:t>Tabs</a:t>
            </a:r>
            <a:r>
              <a:rPr sz="1400" b="0" i="0">
                <a:solidFill>
                  <a:srgbClr val="1C2530"/>
                </a:solidFill>
                <a:latin typeface="Calibri"/>
              </a:rPr>
              <a:t> follow the close: local data, translation, intercompany, journals, results.</a:t>
            </a:r>
          </a:p>
        </p:txBody>
      </p:sp>
      <p:sp>
        <p:nvSpPr>
          <p:cNvPr id="16" name="Oval 15"/>
          <p:cNvSpPr/>
          <p:nvPr/>
        </p:nvSpPr>
        <p:spPr>
          <a:xfrm>
            <a:off x="8092440" y="2304288"/>
            <a:ext cx="329184" cy="329184"/>
          </a:xfrm>
          <a:prstGeom prst="ellipse">
            <a:avLst/>
          </a:prstGeom>
          <a:solidFill>
            <a:srgbClr val="B87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92440" y="2304288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2322576"/>
            <a:ext cx="3090672" cy="91439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400" b="1" i="0">
                <a:solidFill>
                  <a:srgbClr val="1C2530"/>
                </a:solidFill>
                <a:latin typeface="Calibri"/>
              </a:rPr>
              <a:t>Scope</a:t>
            </a:r>
            <a:r>
              <a:rPr sz="1400" b="0" i="0">
                <a:solidFill>
                  <a:srgbClr val="1C2530"/>
                </a:solidFill>
                <a:latin typeface="Calibri"/>
              </a:rPr>
              <a:t>: the four companies, the share held and the status (Not consolidated, OK, Impacted).</a:t>
            </a:r>
          </a:p>
        </p:txBody>
      </p:sp>
      <p:sp>
        <p:nvSpPr>
          <p:cNvPr id="19" name="Oval 18"/>
          <p:cNvSpPr/>
          <p:nvPr/>
        </p:nvSpPr>
        <p:spPr>
          <a:xfrm>
            <a:off x="8092440" y="3419856"/>
            <a:ext cx="329184" cy="329184"/>
          </a:xfrm>
          <a:prstGeom prst="ellipse">
            <a:avLst/>
          </a:prstGeom>
          <a:solidFill>
            <a:srgbClr val="B87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2440" y="3419856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3438144"/>
            <a:ext cx="309067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400" b="1" i="0">
                <a:solidFill>
                  <a:srgbClr val="1C2530"/>
                </a:solidFill>
                <a:latin typeface="Calibri"/>
              </a:rPr>
              <a:t>Consolidate the group</a:t>
            </a:r>
            <a:r>
              <a:rPr sz="1400" b="0" i="0">
                <a:solidFill>
                  <a:srgbClr val="1C2530"/>
                </a:solidFill>
                <a:latin typeface="Calibri"/>
              </a:rPr>
              <a:t>: group team only.</a:t>
            </a:r>
          </a:p>
        </p:txBody>
      </p:sp>
      <p:sp>
        <p:nvSpPr>
          <p:cNvPr id="22" name="Oval 21"/>
          <p:cNvSpPr/>
          <p:nvPr/>
        </p:nvSpPr>
        <p:spPr>
          <a:xfrm>
            <a:off x="8092440" y="3986784"/>
            <a:ext cx="329184" cy="329184"/>
          </a:xfrm>
          <a:prstGeom prst="ellipse">
            <a:avLst/>
          </a:prstGeom>
          <a:solidFill>
            <a:srgbClr val="B87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92440" y="3986784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4005072"/>
            <a:ext cx="3090672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400" b="1" i="0">
                <a:solidFill>
                  <a:srgbClr val="1C2530"/>
                </a:solidFill>
                <a:latin typeface="Calibri"/>
              </a:rPr>
              <a:t>Guided tour and notes</a:t>
            </a:r>
            <a:r>
              <a:rPr sz="1400" b="0" i="0">
                <a:solidFill>
                  <a:srgbClr val="1C2530"/>
                </a:solidFill>
                <a:latin typeface="Calibri"/>
              </a:rPr>
              <a:t> explain every screen.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1908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5B6673"/>
                </a:solidFill>
                <a:latin typeface="Calibri"/>
              </a:rPr>
              <a:t>Lumen Consol · The half-year close in 10 steps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25912" y="641908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5B6673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200" b="1" i="0">
                <a:solidFill>
                  <a:srgbClr val="B8741A"/>
                </a:solidFill>
                <a:latin typeface="Calibri"/>
              </a:rPr>
              <a:t>STEPS 2 AND 3 · D+2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800" b="1" i="0">
                <a:solidFill>
                  <a:srgbClr val="1C2530"/>
                </a:solidFill>
                <a:latin typeface="Cambria"/>
              </a:rPr>
              <a:t>Review your local package</a:t>
            </a:r>
          </a:p>
        </p:txBody>
      </p:sp>
      <p:pic>
        <p:nvPicPr>
          <p:cNvPr id="4" name="Picture 3" descr="shot-lo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7223760" cy="4514850"/>
          </a:xfrm>
          <a:prstGeom prst="rect">
            <a:avLst/>
          </a:prstGeom>
          <a:ln w="12700">
            <a:solidFill>
              <a:srgbClr val="D5DAE0"/>
            </a:solidFill>
          </a:ln>
        </p:spPr>
      </p:pic>
      <p:sp>
        <p:nvSpPr>
          <p:cNvPr id="5" name="Oval 4"/>
          <p:cNvSpPr/>
          <p:nvPr/>
        </p:nvSpPr>
        <p:spPr>
          <a:xfrm>
            <a:off x="421266" y="2354633"/>
            <a:ext cx="329184" cy="329184"/>
          </a:xfrm>
          <a:prstGeom prst="ellipse">
            <a:avLst/>
          </a:prstGeom>
          <a:solidFill>
            <a:srgbClr val="B87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1266" y="2354633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Oval 6"/>
          <p:cNvSpPr/>
          <p:nvPr/>
        </p:nvSpPr>
        <p:spPr>
          <a:xfrm>
            <a:off x="3115853" y="2930276"/>
            <a:ext cx="329184" cy="329184"/>
          </a:xfrm>
          <a:prstGeom prst="ellipse">
            <a:avLst/>
          </a:prstGeom>
          <a:solidFill>
            <a:srgbClr val="B87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15853" y="2930276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Oval 8"/>
          <p:cNvSpPr/>
          <p:nvPr/>
        </p:nvSpPr>
        <p:spPr>
          <a:xfrm>
            <a:off x="3948529" y="3432554"/>
            <a:ext cx="329184" cy="329184"/>
          </a:xfrm>
          <a:prstGeom prst="ellipse">
            <a:avLst/>
          </a:prstGeom>
          <a:solidFill>
            <a:srgbClr val="B87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48529" y="3432554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Oval 10"/>
          <p:cNvSpPr/>
          <p:nvPr/>
        </p:nvSpPr>
        <p:spPr>
          <a:xfrm>
            <a:off x="7473505" y="3527083"/>
            <a:ext cx="329184" cy="329184"/>
          </a:xfrm>
          <a:prstGeom prst="ellipse">
            <a:avLst/>
          </a:prstGeom>
          <a:solidFill>
            <a:srgbClr val="B87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73505" y="3527083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Oval 12"/>
          <p:cNvSpPr/>
          <p:nvPr/>
        </p:nvSpPr>
        <p:spPr>
          <a:xfrm>
            <a:off x="8092440" y="1463040"/>
            <a:ext cx="329184" cy="329184"/>
          </a:xfrm>
          <a:prstGeom prst="ellipse">
            <a:avLst/>
          </a:prstGeom>
          <a:solidFill>
            <a:srgbClr val="B87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146304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1481328"/>
            <a:ext cx="3090672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400" b="1" i="0">
                <a:solidFill>
                  <a:srgbClr val="1C2530"/>
                </a:solidFill>
                <a:latin typeface="Calibri"/>
              </a:rPr>
              <a:t>Your entity</a:t>
            </a:r>
            <a:r>
              <a:rPr sz="1400" b="0" i="0">
                <a:solidFill>
                  <a:srgbClr val="1C2530"/>
                </a:solidFill>
                <a:latin typeface="Calibri"/>
              </a:rPr>
              <a:t>: amounts in its own currency (here USD).</a:t>
            </a:r>
          </a:p>
        </p:txBody>
      </p:sp>
      <p:sp>
        <p:nvSpPr>
          <p:cNvPr id="16" name="Oval 15"/>
          <p:cNvSpPr/>
          <p:nvPr/>
        </p:nvSpPr>
        <p:spPr>
          <a:xfrm>
            <a:off x="8092440" y="2304288"/>
            <a:ext cx="329184" cy="329184"/>
          </a:xfrm>
          <a:prstGeom prst="ellipse">
            <a:avLst/>
          </a:prstGeom>
          <a:solidFill>
            <a:srgbClr val="B87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92440" y="2304288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2322576"/>
            <a:ext cx="3090672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400" b="1" i="0">
                <a:solidFill>
                  <a:srgbClr val="1C2530"/>
                </a:solidFill>
                <a:latin typeface="Calibri"/>
              </a:rPr>
              <a:t>Yellow cells</a:t>
            </a:r>
            <a:r>
              <a:rPr sz="1400" b="0" i="0">
                <a:solidFill>
                  <a:srgbClr val="1C2530"/>
                </a:solidFill>
                <a:latin typeface="Calibri"/>
              </a:rPr>
              <a:t> are editable; totals are calculated.</a:t>
            </a:r>
          </a:p>
        </p:txBody>
      </p:sp>
      <p:sp>
        <p:nvSpPr>
          <p:cNvPr id="19" name="Oval 18"/>
          <p:cNvSpPr/>
          <p:nvPr/>
        </p:nvSpPr>
        <p:spPr>
          <a:xfrm>
            <a:off x="8092440" y="3145536"/>
            <a:ext cx="329184" cy="329184"/>
          </a:xfrm>
          <a:prstGeom prst="ellipse">
            <a:avLst/>
          </a:prstGeom>
          <a:solidFill>
            <a:srgbClr val="B87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2440" y="3145536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3163824"/>
            <a:ext cx="3090672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400" b="1" i="0">
                <a:solidFill>
                  <a:srgbClr val="1C2530"/>
                </a:solidFill>
                <a:latin typeface="Calibri"/>
              </a:rPr>
              <a:t>Of which intercompany</a:t>
            </a:r>
            <a:r>
              <a:rPr sz="1400" b="0" i="0">
                <a:solidFill>
                  <a:srgbClr val="1C2530"/>
                </a:solidFill>
                <a:latin typeface="Calibri"/>
              </a:rPr>
              <a:t>: the partner of every internal flow. Matching relies on it.</a:t>
            </a:r>
          </a:p>
        </p:txBody>
      </p:sp>
      <p:sp>
        <p:nvSpPr>
          <p:cNvPr id="22" name="Oval 21"/>
          <p:cNvSpPr/>
          <p:nvPr/>
        </p:nvSpPr>
        <p:spPr>
          <a:xfrm>
            <a:off x="8092440" y="3986783"/>
            <a:ext cx="329184" cy="329184"/>
          </a:xfrm>
          <a:prstGeom prst="ellipse">
            <a:avLst/>
          </a:prstGeom>
          <a:solidFill>
            <a:srgbClr val="B87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92440" y="3986783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4005071"/>
            <a:ext cx="3090672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400" b="1" i="0">
                <a:solidFill>
                  <a:srgbClr val="1C2530"/>
                </a:solidFill>
                <a:latin typeface="Calibri"/>
              </a:rPr>
              <a:t>Cash balances the package</a:t>
            </a:r>
            <a:r>
              <a:rPr sz="1400" b="0" i="0">
                <a:solidFill>
                  <a:srgbClr val="1C2530"/>
                </a:solidFill>
                <a:latin typeface="Calibri"/>
              </a:rPr>
              <a:t>: if it looks wrong, another line is wrong.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1908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5B6673"/>
                </a:solidFill>
                <a:latin typeface="Calibri"/>
              </a:rPr>
              <a:t>Lumen Consol · The half-year close in 10 steps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25912" y="641908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5B6673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200" b="1" i="0">
                <a:solidFill>
                  <a:srgbClr val="B8741A"/>
                </a:solidFill>
                <a:latin typeface="Calibri"/>
              </a:rPr>
              <a:t>STEP 4 · D+3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800" b="1" i="0">
                <a:solidFill>
                  <a:srgbClr val="1C2530"/>
                </a:solidFill>
                <a:latin typeface="Cambria"/>
              </a:rPr>
              <a:t>Exchange rates: which rate for which 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3566160" cy="3063240"/>
          </a:xfrm>
          <a:prstGeom prst="roundRect">
            <a:avLst>
              <a:gd name="adj" fmla="val 3582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700" b="1" i="0">
                <a:solidFill>
                  <a:srgbClr val="2F5D62"/>
                </a:solidFill>
                <a:latin typeface="Calibri"/>
              </a:rPr>
              <a:t>Closing 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240280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4400" b="1" i="0">
                <a:solidFill>
                  <a:srgbClr val="1C2530"/>
                </a:solidFill>
                <a:latin typeface="Cambria"/>
              </a:rPr>
              <a:t>1.1700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5B6673"/>
                </a:solidFill>
                <a:latin typeface="Calibri"/>
              </a:rPr>
              <a:t>EUR for 1 GBP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52044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600" b="1" i="0">
                <a:solidFill>
                  <a:srgbClr val="1C2530"/>
                </a:solidFill>
                <a:latin typeface="Calibri"/>
              </a:rPr>
              <a:t>Balance sheet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858768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00" b="0" i="0">
                <a:solidFill>
                  <a:srgbClr val="5B6673"/>
                </a:solidFill>
                <a:latin typeface="Calibri"/>
              </a:rPr>
              <a:t>Assets and liabilities at 30 June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554480"/>
            <a:ext cx="3566160" cy="3063240"/>
          </a:xfrm>
          <a:prstGeom prst="roundRect">
            <a:avLst>
              <a:gd name="adj" fmla="val 3582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19" y="178308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700" b="1" i="0">
                <a:solidFill>
                  <a:srgbClr val="2F5D62"/>
                </a:solidFill>
                <a:latin typeface="Calibri"/>
              </a:rPr>
              <a:t>Average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19" y="2240280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4400" b="1" i="0">
                <a:solidFill>
                  <a:srgbClr val="1C2530"/>
                </a:solidFill>
                <a:latin typeface="Cambria"/>
              </a:rPr>
              <a:t>1.1650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19" y="310896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5B6673"/>
                </a:solidFill>
                <a:latin typeface="Calibri"/>
              </a:rPr>
              <a:t>EUR for 1 GBP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19" y="352044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600" b="1" i="0">
                <a:solidFill>
                  <a:srgbClr val="1C2530"/>
                </a:solidFill>
                <a:latin typeface="Calibri"/>
              </a:rPr>
              <a:t>Income statement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19" y="3858768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00" b="0" i="0">
                <a:solidFill>
                  <a:srgbClr val="5B6673"/>
                </a:solidFill>
                <a:latin typeface="Calibri"/>
              </a:rPr>
              <a:t>Revenue, costs and net income for H1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9" y="1554480"/>
            <a:ext cx="3566160" cy="3063240"/>
          </a:xfrm>
          <a:prstGeom prst="roundRect">
            <a:avLst>
              <a:gd name="adj" fmla="val 3582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59" y="178308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700" b="1" i="0">
                <a:solidFill>
                  <a:srgbClr val="2F5D62"/>
                </a:solidFill>
                <a:latin typeface="Calibri"/>
              </a:rPr>
              <a:t>Historical rates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59" y="2240280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4400" b="1" i="0">
                <a:solidFill>
                  <a:srgbClr val="1C2530"/>
                </a:solidFill>
                <a:latin typeface="Cambria"/>
              </a:rPr>
              <a:t>1.2000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59" y="310896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5B6673"/>
                </a:solidFill>
                <a:latin typeface="Calibri"/>
              </a:rPr>
              <a:t>EUR for 1 GBP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59" y="352044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600" b="1" i="0">
                <a:solidFill>
                  <a:srgbClr val="1C2530"/>
                </a:solidFill>
                <a:latin typeface="Calibri"/>
              </a:rPr>
              <a:t>Equity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59" y="3858768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00" b="0" i="0">
                <a:solidFill>
                  <a:srgbClr val="5B6673"/>
                </a:solidFill>
                <a:latin typeface="Calibri"/>
              </a:rPr>
              <a:t>Capital and reserves at their original rates; dividends at the payment date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892040"/>
            <a:ext cx="11064240" cy="1188720"/>
          </a:xfrm>
          <a:prstGeom prst="roundRect">
            <a:avLst>
              <a:gd name="adj" fmla="val 9230"/>
            </a:avLst>
          </a:prstGeom>
          <a:solidFill>
            <a:srgbClr val="FB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074920"/>
            <a:ext cx="10424160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  <a:buNone/>
            </a:pPr>
            <a:r>
              <a:rPr sz="1400" b="1" i="0">
                <a:solidFill>
                  <a:srgbClr val="1C2530"/>
                </a:solidFill>
                <a:latin typeface="Calibri"/>
              </a:rPr>
              <a:t>The difference is the translation reserve</a:t>
            </a:r>
            <a:r>
              <a:rPr sz="1400" b="0" i="0">
                <a:solidFill>
                  <a:srgbClr val="1C2530"/>
                </a:solidFill>
                <a:latin typeface="Calibri"/>
              </a:rPr>
              <a:t> (IAS 21). It is not a gain or a loss: it sits in equity, and its movement for the half-year is reported in other comprehensive income.</a:t>
            </a: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400" b="0" i="0">
                <a:solidFill>
                  <a:srgbClr val="1C2530"/>
                </a:solidFill>
                <a:latin typeface="Calibri"/>
              </a:rPr>
              <a:t>Check on the Translation tab that your entity's figures in euros look right, then tell the group team.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1908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5B6673"/>
                </a:solidFill>
                <a:latin typeface="Calibri"/>
              </a:rPr>
              <a:t>Lumen Consol · The half-year close in 10 steps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25912" y="641908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5B6673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200" b="1" i="0">
                <a:solidFill>
                  <a:srgbClr val="B8741A"/>
                </a:solidFill>
                <a:latin typeface="Calibri"/>
              </a:rPr>
              <a:t>STEP 5 · D+3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800" b="1" i="0">
                <a:solidFill>
                  <a:srgbClr val="1C2530"/>
                </a:solidFill>
                <a:latin typeface="Cambria"/>
              </a:rPr>
              <a:t>Match intercompany</a:t>
            </a:r>
          </a:p>
        </p:txBody>
      </p:sp>
      <p:pic>
        <p:nvPicPr>
          <p:cNvPr id="4" name="Picture 3" descr="shot-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7223760" cy="4514850"/>
          </a:xfrm>
          <a:prstGeom prst="rect">
            <a:avLst/>
          </a:prstGeom>
          <a:ln w="12700">
            <a:solidFill>
              <a:srgbClr val="D5DAE0"/>
            </a:solidFill>
          </a:ln>
        </p:spPr>
      </p:pic>
      <p:sp>
        <p:nvSpPr>
          <p:cNvPr id="5" name="Oval 4"/>
          <p:cNvSpPr/>
          <p:nvPr/>
        </p:nvSpPr>
        <p:spPr>
          <a:xfrm>
            <a:off x="885253" y="2203989"/>
            <a:ext cx="329184" cy="329184"/>
          </a:xfrm>
          <a:prstGeom prst="ellipse">
            <a:avLst/>
          </a:prstGeom>
          <a:solidFill>
            <a:srgbClr val="B87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5253" y="2203989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Oval 6"/>
          <p:cNvSpPr/>
          <p:nvPr/>
        </p:nvSpPr>
        <p:spPr>
          <a:xfrm>
            <a:off x="7065408" y="1896629"/>
            <a:ext cx="329184" cy="329184"/>
          </a:xfrm>
          <a:prstGeom prst="ellipse">
            <a:avLst/>
          </a:prstGeom>
          <a:solidFill>
            <a:srgbClr val="B87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65408" y="1896629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Oval 8"/>
          <p:cNvSpPr/>
          <p:nvPr/>
        </p:nvSpPr>
        <p:spPr>
          <a:xfrm>
            <a:off x="6956234" y="3940474"/>
            <a:ext cx="329184" cy="329184"/>
          </a:xfrm>
          <a:prstGeom prst="ellipse">
            <a:avLst/>
          </a:prstGeom>
          <a:solidFill>
            <a:srgbClr val="B87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56234" y="3940474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Oval 10"/>
          <p:cNvSpPr/>
          <p:nvPr/>
        </p:nvSpPr>
        <p:spPr>
          <a:xfrm>
            <a:off x="1911456" y="5222974"/>
            <a:ext cx="329184" cy="329184"/>
          </a:xfrm>
          <a:prstGeom prst="ellipse">
            <a:avLst/>
          </a:prstGeom>
          <a:solidFill>
            <a:srgbClr val="B87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11456" y="5222974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Oval 12"/>
          <p:cNvSpPr/>
          <p:nvPr/>
        </p:nvSpPr>
        <p:spPr>
          <a:xfrm>
            <a:off x="8092440" y="1463040"/>
            <a:ext cx="329184" cy="329184"/>
          </a:xfrm>
          <a:prstGeom prst="ellipse">
            <a:avLst/>
          </a:prstGeom>
          <a:solidFill>
            <a:srgbClr val="B87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146304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1481328"/>
            <a:ext cx="3090672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400" b="1" i="0">
                <a:solidFill>
                  <a:srgbClr val="1C2530"/>
                </a:solidFill>
                <a:latin typeface="Calibri"/>
              </a:rPr>
              <a:t>One line per pair</a:t>
            </a:r>
            <a:r>
              <a:rPr sz="1400" b="0" i="0">
                <a:solidFill>
                  <a:srgbClr val="1C2530"/>
                </a:solidFill>
                <a:latin typeface="Calibri"/>
              </a:rPr>
              <a:t>: seller and buyer, both in euros.</a:t>
            </a:r>
          </a:p>
        </p:txBody>
      </p:sp>
      <p:sp>
        <p:nvSpPr>
          <p:cNvPr id="16" name="Oval 15"/>
          <p:cNvSpPr/>
          <p:nvPr/>
        </p:nvSpPr>
        <p:spPr>
          <a:xfrm>
            <a:off x="8092440" y="2231136"/>
            <a:ext cx="329184" cy="329184"/>
          </a:xfrm>
          <a:prstGeom prst="ellipse">
            <a:avLst/>
          </a:prstGeom>
          <a:solidFill>
            <a:srgbClr val="B87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92440" y="2231136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2249424"/>
            <a:ext cx="3090672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400" b="1" i="0">
                <a:solidFill>
                  <a:srgbClr val="1C2530"/>
                </a:solidFill>
                <a:latin typeface="Calibri"/>
              </a:rPr>
              <a:t>Tolerance</a:t>
            </a:r>
            <a:r>
              <a:rPr sz="1400" b="0" i="0">
                <a:solidFill>
                  <a:srgbClr val="1C2530"/>
                </a:solidFill>
                <a:latin typeface="Calibri"/>
              </a:rPr>
              <a:t>: up to 10 k€ is accepted (FX, rounding).</a:t>
            </a:r>
          </a:p>
        </p:txBody>
      </p:sp>
      <p:sp>
        <p:nvSpPr>
          <p:cNvPr id="19" name="Oval 18"/>
          <p:cNvSpPr/>
          <p:nvPr/>
        </p:nvSpPr>
        <p:spPr>
          <a:xfrm>
            <a:off x="8092440" y="2999232"/>
            <a:ext cx="329184" cy="329184"/>
          </a:xfrm>
          <a:prstGeom prst="ellipse">
            <a:avLst/>
          </a:prstGeom>
          <a:solidFill>
            <a:srgbClr val="B87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2440" y="2999232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3017520"/>
            <a:ext cx="3090672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400" b="1" i="0">
                <a:solidFill>
                  <a:srgbClr val="1C2530"/>
                </a:solidFill>
                <a:latin typeface="Calibri"/>
              </a:rPr>
              <a:t>To investigate</a:t>
            </a:r>
            <a:r>
              <a:rPr sz="1400" b="0" i="0">
                <a:solidFill>
                  <a:srgbClr val="1C2530"/>
                </a:solidFill>
                <a:latin typeface="Calibri"/>
              </a:rPr>
              <a:t>: FR invoiced 900 k€; the US booked about 800 k€.</a:t>
            </a:r>
          </a:p>
        </p:txBody>
      </p:sp>
      <p:sp>
        <p:nvSpPr>
          <p:cNvPr id="22" name="Oval 21"/>
          <p:cNvSpPr/>
          <p:nvPr/>
        </p:nvSpPr>
        <p:spPr>
          <a:xfrm>
            <a:off x="8092440" y="3767328"/>
            <a:ext cx="329184" cy="329184"/>
          </a:xfrm>
          <a:prstGeom prst="ellipse">
            <a:avLst/>
          </a:prstGeom>
          <a:solidFill>
            <a:srgbClr val="B87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92440" y="3767328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3785615"/>
            <a:ext cx="309067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400" b="1" i="0">
                <a:solidFill>
                  <a:srgbClr val="1C2530"/>
                </a:solidFill>
                <a:latin typeface="Calibri"/>
              </a:rPr>
              <a:t>Create the correcting journal</a:t>
            </a:r>
            <a:r>
              <a:rPr sz="1400" b="0" i="0">
                <a:solidFill>
                  <a:srgbClr val="1C2530"/>
                </a:solidFill>
                <a:latin typeface="Calibri"/>
              </a:rPr>
              <a:t> from here.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4352544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E6F2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92440" y="4352544"/>
            <a:ext cx="173736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200" b="1" i="0">
                <a:solidFill>
                  <a:srgbClr val="2E7D4F"/>
                </a:solidFill>
                <a:latin typeface="Calibri"/>
              </a:rPr>
              <a:t>Matched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92440" y="4736592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92440" y="4736592"/>
            <a:ext cx="173736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200" b="1" i="0">
                <a:solidFill>
                  <a:srgbClr val="5B6673"/>
                </a:solidFill>
                <a:latin typeface="Calibri"/>
              </a:rPr>
              <a:t>Within tolerance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92440" y="512064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92440" y="5120640"/>
            <a:ext cx="173736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200" b="1" i="0">
                <a:solidFill>
                  <a:srgbClr val="5B6673"/>
                </a:solidFill>
                <a:latin typeface="Calibri"/>
              </a:rPr>
              <a:t>FX difference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92440" y="5504688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92440" y="5504688"/>
            <a:ext cx="173736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200" b="1" i="0">
                <a:solidFill>
                  <a:srgbClr val="B42318"/>
                </a:solidFill>
                <a:latin typeface="Calibri"/>
              </a:rPr>
              <a:t>To investigate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1908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5B6673"/>
                </a:solidFill>
                <a:latin typeface="Calibri"/>
              </a:rPr>
              <a:t>Lumen Consol · The half-year close in 10 steps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25912" y="641908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5B6673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200" b="1" i="0">
                <a:solidFill>
                  <a:srgbClr val="B8741A"/>
                </a:solidFill>
                <a:latin typeface="Calibri"/>
              </a:rPr>
              <a:t>STEP 6 · D+4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800" b="1" i="0">
                <a:solidFill>
                  <a:srgbClr val="1C2530"/>
                </a:solidFill>
                <a:latin typeface="Cambria"/>
              </a:rPr>
              <a:t>Correct with a journal, never by editing the package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4937760" cy="3291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  <a:buNone/>
            </a:pPr>
            <a:r>
              <a:rPr sz="1800" b="1" i="0">
                <a:solidFill>
                  <a:srgbClr val="1C2530"/>
                </a:solidFill>
                <a:latin typeface="Cambria"/>
              </a:rPr>
              <a:t>Why a journal?</a:t>
            </a:r>
          </a:p>
          <a:p>
            <a:pPr algn="l" marL="219456" indent="-219456">
              <a:lnSpc>
                <a:spcPct val="112000"/>
              </a:lnSpc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1C2530"/>
                </a:solidFill>
                <a:latin typeface="Calibri"/>
              </a:rPr>
              <a:t>The package stays as submitted: journals are stored separately (Data Source: Journal Input).</a:t>
            </a:r>
          </a:p>
          <a:p>
            <a:pPr algn="l" marL="219456" indent="-219456">
              <a:lnSpc>
                <a:spcPct val="112000"/>
              </a:lnSpc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1C2530"/>
                </a:solidFill>
                <a:latin typeface="Calibri"/>
              </a:rPr>
              <a:t>Every correction has an author, a date and a reason for the auditors.</a:t>
            </a:r>
          </a:p>
          <a:p>
            <a:pPr algn="l" marL="219456" indent="-219456">
              <a:lnSpc>
                <a:spcPct val="112000"/>
              </a:lnSpc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1C2530"/>
                </a:solidFill>
                <a:latin typeface="Calibri"/>
              </a:rPr>
              <a:t>Someone other than the preparer approves it.</a:t>
            </a:r>
          </a:p>
          <a:p>
            <a:pPr algn="l" marL="219456" indent="-219456">
              <a:lnSpc>
                <a:spcPct val="112000"/>
              </a:lnSpc>
              <a:spcAft>
                <a:spcPts val="0"/>
              </a:spcAft>
              <a:buFont typeface="Arial"/>
              <a:buChar char="•"/>
            </a:pPr>
            <a:r>
              <a:rPr sz="1500" b="0" i="0">
                <a:solidFill>
                  <a:srgbClr val="1C2530"/>
                </a:solidFill>
                <a:latin typeface="Calibri"/>
              </a:rPr>
              <a:t>Entity Input: in the entity's currency, translated with its package.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97880" y="1554480"/>
            <a:ext cx="5742432" cy="868680"/>
          </a:xfrm>
          <a:prstGeom prst="roundRect">
            <a:avLst>
              <a:gd name="adj" fmla="val 10526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0" y="1645920"/>
            <a:ext cx="539496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  <a:buNone/>
            </a:pPr>
            <a:r>
              <a:rPr sz="1500" b="1" i="0">
                <a:solidFill>
                  <a:srgbClr val="1C2530"/>
                </a:solidFill>
                <a:latin typeface="Calibri"/>
              </a:rPr>
              <a:t>US_IC_INTRANSIT_0629</a:t>
            </a:r>
            <a:r>
              <a:rPr sz="1500" b="0" i="0">
                <a:solidFill>
                  <a:srgbClr val="1C2530"/>
                </a:solidFill>
                <a:latin typeface="Calibri"/>
              </a:rPr>
              <a:t> · Entity Input · USD</a:t>
            </a: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00" b="0" i="0">
                <a:solidFill>
                  <a:srgbClr val="5B6673"/>
                </a:solidFill>
                <a:latin typeface="Calibri"/>
              </a:rPr>
              <a:t>FR invoice of 29 June in transit: goods shipped, not yet received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97880" y="2606040"/>
          <a:ext cx="5742432" cy="168249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822960"/>
                <a:gridCol w="1737360"/>
                <a:gridCol w="987552"/>
                <a:gridCol w="1097280"/>
                <a:gridCol w="1097280"/>
              </a:tblGrid>
              <a:tr h="420624">
                <a:tc>
                  <a:txBody>
                    <a:bodyPr wrap="square" lIns="0" rIns="0" tIns="0" bIns="0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Entity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D5DAE0"/>
                      </a:solidFill>
                    </a:lnL>
                    <a:lnR w="9525">
                      <a:solidFill>
                        <a:srgbClr val="D5DAE0"/>
                      </a:solidFill>
                    </a:lnR>
                    <a:lnT w="9525">
                      <a:solidFill>
                        <a:srgbClr val="D5DAE0"/>
                      </a:solidFill>
                    </a:lnT>
                    <a:lnB w="9525">
                      <a:solidFill>
                        <a:srgbClr val="D5DAE0"/>
                      </a:solidFill>
                    </a:lnB>
                    <a:solidFill>
                      <a:srgbClr val="2F5D62"/>
                    </a:solidFill>
                  </a:tcPr>
                </a:tc>
                <a:tc>
                  <a:txBody>
                    <a:bodyPr wrap="square" lIns="0" rIns="0" tIns="0" bIns="0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Account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D5DAE0"/>
                      </a:solidFill>
                    </a:lnL>
                    <a:lnR w="9525">
                      <a:solidFill>
                        <a:srgbClr val="D5DAE0"/>
                      </a:solidFill>
                    </a:lnR>
                    <a:lnT w="9525">
                      <a:solidFill>
                        <a:srgbClr val="D5DAE0"/>
                      </a:solidFill>
                    </a:lnT>
                    <a:lnB w="9525">
                      <a:solidFill>
                        <a:srgbClr val="D5DAE0"/>
                      </a:solidFill>
                    </a:lnB>
                    <a:solidFill>
                      <a:srgbClr val="2F5D62"/>
                    </a:solidFill>
                  </a:tcPr>
                </a:tc>
                <a:tc>
                  <a:txBody>
                    <a:bodyPr wrap="square" lIns="0" rIns="0" tIns="0" bIns="0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ICP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D5DAE0"/>
                      </a:solidFill>
                    </a:lnL>
                    <a:lnR w="9525">
                      <a:solidFill>
                        <a:srgbClr val="D5DAE0"/>
                      </a:solidFill>
                    </a:lnR>
                    <a:lnT w="9525">
                      <a:solidFill>
                        <a:srgbClr val="D5DAE0"/>
                      </a:solidFill>
                    </a:lnT>
                    <a:lnB w="9525">
                      <a:solidFill>
                        <a:srgbClr val="D5DAE0"/>
                      </a:solidFill>
                    </a:lnB>
                    <a:solidFill>
                      <a:srgbClr val="2F5D62"/>
                    </a:solidFill>
                  </a:tcPr>
                </a:tc>
                <a:tc>
                  <a:txBody>
                    <a:bodyPr wrap="square" lIns="0" rIns="0" tIns="0" bIns="0" anchor="ctr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Debit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D5DAE0"/>
                      </a:solidFill>
                    </a:lnL>
                    <a:lnR w="9525">
                      <a:solidFill>
                        <a:srgbClr val="D5DAE0"/>
                      </a:solidFill>
                    </a:lnR>
                    <a:lnT w="9525">
                      <a:solidFill>
                        <a:srgbClr val="D5DAE0"/>
                      </a:solidFill>
                    </a:lnT>
                    <a:lnB w="9525">
                      <a:solidFill>
                        <a:srgbClr val="D5DAE0"/>
                      </a:solidFill>
                    </a:lnB>
                    <a:solidFill>
                      <a:srgbClr val="2F5D62"/>
                    </a:solidFill>
                  </a:tcPr>
                </a:tc>
                <a:tc>
                  <a:txBody>
                    <a:bodyPr wrap="square" lIns="0" rIns="0" tIns="0" bIns="0" anchor="ctr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Credit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D5DAE0"/>
                      </a:solidFill>
                    </a:lnL>
                    <a:lnR w="9525">
                      <a:solidFill>
                        <a:srgbClr val="D5DAE0"/>
                      </a:solidFill>
                    </a:lnR>
                    <a:lnT w="9525">
                      <a:solidFill>
                        <a:srgbClr val="D5DAE0"/>
                      </a:solidFill>
                    </a:lnT>
                    <a:lnB w="9525">
                      <a:solidFill>
                        <a:srgbClr val="D5DAE0"/>
                      </a:solidFill>
                    </a:lnB>
                    <a:solidFill>
                      <a:srgbClr val="2F5D62"/>
                    </a:solidFill>
                  </a:tcPr>
                </a:tc>
              </a:tr>
              <a:tr h="420624">
                <a:tc>
                  <a:txBody>
                    <a:bodyPr wrap="square" lIns="0" rIns="0" tIns="0" bIns="0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1C2530"/>
                          </a:solidFill>
                          <a:latin typeface="Calibri"/>
                        </a:rPr>
                        <a:t>US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D5DAE0"/>
                      </a:solidFill>
                    </a:lnL>
                    <a:lnR w="9525">
                      <a:solidFill>
                        <a:srgbClr val="D5DAE0"/>
                      </a:solidFill>
                    </a:lnR>
                    <a:lnT w="9525">
                      <a:solidFill>
                        <a:srgbClr val="D5DAE0"/>
                      </a:solidFill>
                    </a:lnT>
                    <a:lnB w="9525">
                      <a:solidFill>
                        <a:srgbClr val="D5DA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1C2530"/>
                          </a:solidFill>
                          <a:latin typeface="Calibri"/>
                        </a:rPr>
                        <a:t>Inventories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D5DAE0"/>
                      </a:solidFill>
                    </a:lnL>
                    <a:lnR w="9525">
                      <a:solidFill>
                        <a:srgbClr val="D5DAE0"/>
                      </a:solidFill>
                    </a:lnR>
                    <a:lnT w="9525">
                      <a:solidFill>
                        <a:srgbClr val="D5DAE0"/>
                      </a:solidFill>
                    </a:lnT>
                    <a:lnB w="9525">
                      <a:solidFill>
                        <a:srgbClr val="D5DA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1C253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D5DAE0"/>
                      </a:solidFill>
                    </a:lnL>
                    <a:lnR w="9525">
                      <a:solidFill>
                        <a:srgbClr val="D5DAE0"/>
                      </a:solidFill>
                    </a:lnR>
                    <a:lnT w="9525">
                      <a:solidFill>
                        <a:srgbClr val="D5DAE0"/>
                      </a:solidFill>
                    </a:lnT>
                    <a:lnB w="9525">
                      <a:solidFill>
                        <a:srgbClr val="D5DA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ctr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1C2530"/>
                          </a:solidFill>
                          <a:latin typeface="Calibri"/>
                        </a:rPr>
                        <a:t>108.7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D5DAE0"/>
                      </a:solidFill>
                    </a:lnL>
                    <a:lnR w="9525">
                      <a:solidFill>
                        <a:srgbClr val="D5DAE0"/>
                      </a:solidFill>
                    </a:lnR>
                    <a:lnT w="9525">
                      <a:solidFill>
                        <a:srgbClr val="D5DAE0"/>
                      </a:solidFill>
                    </a:lnT>
                    <a:lnB w="9525">
                      <a:solidFill>
                        <a:srgbClr val="D5DA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ctr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</a:p>
                  </a:txBody>
                  <a:tcPr marL="91440" marR="91440" marT="36576" marB="36576" anchor="ctr">
                    <a:lnL w="9525">
                      <a:solidFill>
                        <a:srgbClr val="D5DAE0"/>
                      </a:solidFill>
                    </a:lnL>
                    <a:lnR w="9525">
                      <a:solidFill>
                        <a:srgbClr val="D5DAE0"/>
                      </a:solidFill>
                    </a:lnR>
                    <a:lnT w="9525">
                      <a:solidFill>
                        <a:srgbClr val="D5DAE0"/>
                      </a:solidFill>
                    </a:lnT>
                    <a:lnB w="9525">
                      <a:solidFill>
                        <a:srgbClr val="D5DA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0" rIns="0" tIns="0" bIns="0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1C2530"/>
                          </a:solidFill>
                          <a:latin typeface="Calibri"/>
                        </a:rPr>
                        <a:t>US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D5DAE0"/>
                      </a:solidFill>
                    </a:lnL>
                    <a:lnR w="9525">
                      <a:solidFill>
                        <a:srgbClr val="D5DAE0"/>
                      </a:solidFill>
                    </a:lnR>
                    <a:lnT w="9525">
                      <a:solidFill>
                        <a:srgbClr val="D5DAE0"/>
                      </a:solidFill>
                    </a:lnT>
                    <a:lnB w="9525">
                      <a:solidFill>
                        <a:srgbClr val="D5DAE0"/>
                      </a:solidFill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square" lIns="0" rIns="0" tIns="0" bIns="0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1C2530"/>
                          </a:solidFill>
                          <a:latin typeface="Calibri"/>
                        </a:rPr>
                        <a:t>Trade payables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D5DAE0"/>
                      </a:solidFill>
                    </a:lnL>
                    <a:lnR w="9525">
                      <a:solidFill>
                        <a:srgbClr val="D5DAE0"/>
                      </a:solidFill>
                    </a:lnR>
                    <a:lnT w="9525">
                      <a:solidFill>
                        <a:srgbClr val="D5DAE0"/>
                      </a:solidFill>
                    </a:lnT>
                    <a:lnB w="9525">
                      <a:solidFill>
                        <a:srgbClr val="D5DAE0"/>
                      </a:solidFill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square" lIns="0" rIns="0" tIns="0" bIns="0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1C2530"/>
                          </a:solidFill>
                          <a:latin typeface="Calibri"/>
                        </a:rPr>
                        <a:t>ICP_FR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D5DAE0"/>
                      </a:solidFill>
                    </a:lnL>
                    <a:lnR w="9525">
                      <a:solidFill>
                        <a:srgbClr val="D5DAE0"/>
                      </a:solidFill>
                    </a:lnR>
                    <a:lnT w="9525">
                      <a:solidFill>
                        <a:srgbClr val="D5DAE0"/>
                      </a:solidFill>
                    </a:lnT>
                    <a:lnB w="9525">
                      <a:solidFill>
                        <a:srgbClr val="D5DAE0"/>
                      </a:solidFill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square" lIns="0" rIns="0" tIns="0" bIns="0" anchor="ctr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</a:p>
                  </a:txBody>
                  <a:tcPr marL="91440" marR="91440" marT="36576" marB="36576" anchor="ctr">
                    <a:lnL w="9525">
                      <a:solidFill>
                        <a:srgbClr val="D5DAE0"/>
                      </a:solidFill>
                    </a:lnL>
                    <a:lnR w="9525">
                      <a:solidFill>
                        <a:srgbClr val="D5DAE0"/>
                      </a:solidFill>
                    </a:lnR>
                    <a:lnT w="9525">
                      <a:solidFill>
                        <a:srgbClr val="D5DAE0"/>
                      </a:solidFill>
                    </a:lnT>
                    <a:lnB w="9525">
                      <a:solidFill>
                        <a:srgbClr val="D5DAE0"/>
                      </a:solidFill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square" lIns="0" rIns="0" tIns="0" bIns="0" anchor="ctr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rgbClr val="1C2530"/>
                          </a:solidFill>
                          <a:latin typeface="Calibri"/>
                        </a:rPr>
                        <a:t>108.7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D5DAE0"/>
                      </a:solidFill>
                    </a:lnL>
                    <a:lnR w="9525">
                      <a:solidFill>
                        <a:srgbClr val="D5DAE0"/>
                      </a:solidFill>
                    </a:lnR>
                    <a:lnT w="9525">
                      <a:solidFill>
                        <a:srgbClr val="D5DAE0"/>
                      </a:solidFill>
                    </a:lnT>
                    <a:lnB w="9525">
                      <a:solidFill>
                        <a:srgbClr val="D5DAE0"/>
                      </a:solidFill>
                    </a:lnB>
                    <a:solidFill>
                      <a:srgbClr val="F7F8FA"/>
                    </a:solidFill>
                  </a:tcPr>
                </a:tc>
              </a:tr>
              <a:tr h="420624">
                <a:tc>
                  <a:txBody>
                    <a:bodyPr wrap="square" lIns="0" rIns="0" tIns="0" bIns="0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1C2530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D5DAE0"/>
                      </a:solidFill>
                    </a:lnL>
                    <a:lnR w="9525">
                      <a:solidFill>
                        <a:srgbClr val="D5DAE0"/>
                      </a:solidFill>
                    </a:lnR>
                    <a:lnT w="9525">
                      <a:solidFill>
                        <a:srgbClr val="D5DAE0"/>
                      </a:solidFill>
                    </a:lnT>
                    <a:lnB w="9525">
                      <a:solidFill>
                        <a:srgbClr val="D5DA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</a:p>
                  </a:txBody>
                  <a:tcPr marL="91440" marR="91440" marT="36576" marB="36576" anchor="ctr">
                    <a:lnL w="9525">
                      <a:solidFill>
                        <a:srgbClr val="D5DAE0"/>
                      </a:solidFill>
                    </a:lnL>
                    <a:lnR w="9525">
                      <a:solidFill>
                        <a:srgbClr val="D5DAE0"/>
                      </a:solidFill>
                    </a:lnR>
                    <a:lnT w="9525">
                      <a:solidFill>
                        <a:srgbClr val="D5DAE0"/>
                      </a:solidFill>
                    </a:lnT>
                    <a:lnB w="9525">
                      <a:solidFill>
                        <a:srgbClr val="D5DA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ctr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</a:p>
                  </a:txBody>
                  <a:tcPr marL="91440" marR="91440" marT="36576" marB="36576" anchor="ctr">
                    <a:lnL w="9525">
                      <a:solidFill>
                        <a:srgbClr val="D5DAE0"/>
                      </a:solidFill>
                    </a:lnL>
                    <a:lnR w="9525">
                      <a:solidFill>
                        <a:srgbClr val="D5DAE0"/>
                      </a:solidFill>
                    </a:lnR>
                    <a:lnT w="9525">
                      <a:solidFill>
                        <a:srgbClr val="D5DAE0"/>
                      </a:solidFill>
                    </a:lnT>
                    <a:lnB w="9525">
                      <a:solidFill>
                        <a:srgbClr val="D5DA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ctr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1C2530"/>
                          </a:solidFill>
                          <a:latin typeface="Calibri"/>
                        </a:rPr>
                        <a:t>108.7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D5DAE0"/>
                      </a:solidFill>
                    </a:lnL>
                    <a:lnR w="9525">
                      <a:solidFill>
                        <a:srgbClr val="D5DAE0"/>
                      </a:solidFill>
                    </a:lnR>
                    <a:lnT w="9525">
                      <a:solidFill>
                        <a:srgbClr val="D5DAE0"/>
                      </a:solidFill>
                    </a:lnT>
                    <a:lnB w="9525">
                      <a:solidFill>
                        <a:srgbClr val="D5DA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ctr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400" b="1" i="0">
                          <a:solidFill>
                            <a:srgbClr val="1C2530"/>
                          </a:solidFill>
                          <a:latin typeface="Calibri"/>
                        </a:rPr>
                        <a:t>108.7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D5DAE0"/>
                      </a:solidFill>
                    </a:lnL>
                    <a:lnR w="9525">
                      <a:solidFill>
                        <a:srgbClr val="D5DAE0"/>
                      </a:solidFill>
                    </a:lnR>
                    <a:lnT w="9525">
                      <a:solidFill>
                        <a:srgbClr val="D5DAE0"/>
                      </a:solidFill>
                    </a:lnT>
                    <a:lnB w="9525">
                      <a:solidFill>
                        <a:srgbClr val="D5DA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97880" y="4389120"/>
            <a:ext cx="5742432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00" b="0" i="0">
                <a:solidFill>
                  <a:srgbClr val="5B6673"/>
                </a:solidFill>
                <a:latin typeface="Calibri"/>
              </a:rPr>
              <a:t>108.7 k$ = 100 k€ at the closing rate of 0.92. The partner ICP_FR lets matching pair the payable with France's receivable.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166360"/>
            <a:ext cx="11091672" cy="914400"/>
          </a:xfrm>
          <a:prstGeom prst="roundRect">
            <a:avLst>
              <a:gd name="adj" fmla="val 12000"/>
            </a:avLst>
          </a:prstGeom>
          <a:solidFill>
            <a:srgbClr val="FB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321808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400" b="1" i="0">
                <a:solidFill>
                  <a:srgbClr val="1C2530"/>
                </a:solidFill>
                <a:latin typeface="Calibri"/>
              </a:rPr>
              <a:t>Label rules</a:t>
            </a:r>
            <a:r>
              <a:rPr sz="1400" b="0" i="0">
                <a:solidFill>
                  <a:srgbClr val="1C2530"/>
                </a:solidFill>
                <a:latin typeface="Calibri"/>
              </a:rPr>
              <a:t>: no spaces or special characters, unique. </a:t>
            </a:r>
            <a:r>
              <a:rPr sz="1400" b="1" i="0">
                <a:solidFill>
                  <a:srgbClr val="1C2530"/>
                </a:solidFill>
                <a:latin typeface="Calibri"/>
              </a:rPr>
              <a:t>Balance</a:t>
            </a:r>
            <a:r>
              <a:rPr sz="1400" b="0" i="0">
                <a:solidFill>
                  <a:srgbClr val="1C2530"/>
                </a:solidFill>
                <a:latin typeface="Calibri"/>
              </a:rPr>
              <a:t>: each entity balances in its own currency. </a:t>
            </a:r>
            <a:r>
              <a:rPr sz="1400" b="1" i="0">
                <a:solidFill>
                  <a:srgbClr val="1C2530"/>
                </a:solidFill>
                <a:latin typeface="Calibri"/>
              </a:rPr>
              <a:t>Partner</a:t>
            </a:r>
            <a:r>
              <a:rPr sz="1400" b="0" i="0">
                <a:solidFill>
                  <a:srgbClr val="1C2530"/>
                </a:solidFill>
                <a:latin typeface="Calibri"/>
              </a:rPr>
              <a:t>: never the entity itself.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1908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5B6673"/>
                </a:solidFill>
                <a:latin typeface="Calibri"/>
              </a:rPr>
              <a:t>Lumen Consol · The half-year close in 10 steps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5912" y="641908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5B6673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200" b="1" i="0">
                <a:solidFill>
                  <a:srgbClr val="B8741A"/>
                </a:solidFill>
                <a:latin typeface="Calibri"/>
              </a:rPr>
              <a:t>STEP 7 · D+4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800" b="1" i="0">
                <a:solidFill>
                  <a:srgbClr val="1C2530"/>
                </a:solidFill>
                <a:latin typeface="Cambria"/>
              </a:rPr>
              <a:t>Approve and post: the journal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2377440" cy="1097280"/>
          </a:xfrm>
          <a:prstGeom prst="roundRect">
            <a:avLst>
              <a:gd name="adj" fmla="val 10000"/>
            </a:avLst>
          </a:prstGeom>
          <a:solidFill>
            <a:srgbClr val="EAF0FA"/>
          </a:solidFill>
          <a:ln w="12700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900" b="1" i="0">
                <a:solidFill>
                  <a:srgbClr val="1C2530"/>
                </a:solidFill>
                <a:latin typeface="Calibri"/>
              </a:rPr>
              <a:t>Working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4028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5B6673"/>
                </a:solidFill>
                <a:latin typeface="Calibri"/>
              </a:rPr>
              <a:t>Preparer · Léa Moreau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971800" y="2240280"/>
            <a:ext cx="411480" cy="0"/>
          </a:xfrm>
          <a:prstGeom prst="line">
            <a:avLst/>
          </a:prstGeom>
          <a:ln w="25400">
            <a:solidFill>
              <a:srgbClr val="5B66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429000" y="1691640"/>
            <a:ext cx="2377440" cy="1097280"/>
          </a:xfrm>
          <a:prstGeom prst="roundRect">
            <a:avLst>
              <a:gd name="adj" fmla="val 10000"/>
            </a:avLst>
          </a:prstGeom>
          <a:solidFill>
            <a:srgbClr val="FFF4DC"/>
          </a:solidFill>
          <a:ln w="12700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18288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900" b="1" i="0">
                <a:solidFill>
                  <a:srgbClr val="1C2530"/>
                </a:solidFill>
                <a:latin typeface="Calibri"/>
              </a:rPr>
              <a:t>Submitted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24028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5B6673"/>
                </a:solidFill>
                <a:latin typeface="Calibri"/>
              </a:rPr>
              <a:t>Waiting for approval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852160" y="2240280"/>
            <a:ext cx="411480" cy="0"/>
          </a:xfrm>
          <a:prstGeom prst="line">
            <a:avLst/>
          </a:prstGeom>
          <a:ln w="25400">
            <a:solidFill>
              <a:srgbClr val="5B66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309360" y="1691640"/>
            <a:ext cx="2377440" cy="1097280"/>
          </a:xfrm>
          <a:prstGeom prst="roundRect">
            <a:avLst>
              <a:gd name="adj" fmla="val 10000"/>
            </a:avLst>
          </a:prstGeom>
          <a:solidFill>
            <a:srgbClr val="E6F2EB"/>
          </a:solidFill>
          <a:ln w="12700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8288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900" b="1" i="0">
                <a:solidFill>
                  <a:srgbClr val="1C2530"/>
                </a:solidFill>
                <a:latin typeface="Calibri"/>
              </a:rPr>
              <a:t>Approved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24028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5B6673"/>
                </a:solidFill>
                <a:latin typeface="Calibri"/>
              </a:rPr>
              <a:t>Approver · Marc Dubois (CFO)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732520" y="2240280"/>
            <a:ext cx="411480" cy="0"/>
          </a:xfrm>
          <a:prstGeom prst="line">
            <a:avLst/>
          </a:prstGeom>
          <a:ln w="25400">
            <a:solidFill>
              <a:srgbClr val="5B66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189720" y="1691640"/>
            <a:ext cx="2377440" cy="1097280"/>
          </a:xfrm>
          <a:prstGeom prst="roundRect">
            <a:avLst>
              <a:gd name="adj" fmla="val 10000"/>
            </a:avLst>
          </a:prstGeom>
          <a:solidFill>
            <a:srgbClr val="E8F0F0"/>
          </a:solidFill>
          <a:ln w="12700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9720" y="18288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900" b="1" i="0">
                <a:solidFill>
                  <a:srgbClr val="1C2530"/>
                </a:solidFill>
                <a:latin typeface="Calibri"/>
              </a:rPr>
              <a:t>Posted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0" y="224028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5B6673"/>
                </a:solidFill>
                <a:latin typeface="Calibri"/>
              </a:rPr>
              <a:t>Posted by the preparer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190195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5B6673"/>
                </a:solidFill>
                <a:latin typeface="Calibri"/>
              </a:rPr>
              <a:t>Submit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59" y="190195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5B6673"/>
                </a:solidFill>
                <a:latin typeface="Calibri"/>
              </a:rPr>
              <a:t>Approve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32520" y="190195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5B6673"/>
                </a:solidFill>
                <a:latin typeface="Calibri"/>
              </a:rPr>
              <a:t>Post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617720" y="2788920"/>
            <a:ext cx="0" cy="365760"/>
          </a:xfrm>
          <a:prstGeom prst="line">
            <a:avLst/>
          </a:prstGeom>
          <a:ln w="20320">
            <a:solidFill>
              <a:srgbClr val="B423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1737360" y="3154680"/>
            <a:ext cx="2880360" cy="0"/>
          </a:xfrm>
          <a:prstGeom prst="line">
            <a:avLst/>
          </a:prstGeom>
          <a:ln w="20320">
            <a:solidFill>
              <a:srgbClr val="B423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737360" y="2816352"/>
            <a:ext cx="0" cy="338328"/>
          </a:xfrm>
          <a:prstGeom prst="line">
            <a:avLst/>
          </a:prstGeom>
          <a:ln w="20320">
            <a:solidFill>
              <a:srgbClr val="B4231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011679" y="320040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B42318"/>
                </a:solidFill>
                <a:latin typeface="Calibri"/>
              </a:rPr>
              <a:t>Reject: back to Working, reason required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840480"/>
            <a:ext cx="5394960" cy="2148840"/>
          </a:xfrm>
          <a:prstGeom prst="roundRect">
            <a:avLst>
              <a:gd name="adj" fmla="val 5106"/>
            </a:avLst>
          </a:prstGeom>
          <a:solidFill>
            <a:srgbClr val="FB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023360"/>
            <a:ext cx="4846320" cy="1828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  <a:buNone/>
            </a:pPr>
            <a:r>
              <a:rPr sz="1700" b="1" i="0">
                <a:solidFill>
                  <a:srgbClr val="1C2530"/>
                </a:solidFill>
                <a:latin typeface="Calibri"/>
              </a:rPr>
              <a:t>Whoever approves does not post</a:t>
            </a: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400" b="0" i="0">
                <a:solidFill>
                  <a:srgbClr val="1C2530"/>
                </a:solidFill>
                <a:latin typeface="Calibri"/>
              </a:rPr>
              <a:t>The CFO approves; the preparer posts. The auditors check this rule on every journal.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45352" y="3840480"/>
            <a:ext cx="5394960" cy="2148840"/>
          </a:xfrm>
          <a:prstGeom prst="roundRect">
            <a:avLst>
              <a:gd name="adj" fmla="val 5106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65392" y="4023360"/>
            <a:ext cx="4846320" cy="1828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sz="1700" b="1" i="0">
                <a:solidFill>
                  <a:srgbClr val="1C2530"/>
                </a:solidFill>
                <a:latin typeface="Calibri"/>
              </a:rPr>
              <a:t>Scan before you submit</a:t>
            </a:r>
          </a:p>
          <a:p>
            <a:pPr algn="l" marL="219456" indent="-219456">
              <a:lnSpc>
                <a:spcPct val="112000"/>
              </a:lnSpc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1C2530"/>
                </a:solidFill>
                <a:latin typeface="Calibri"/>
              </a:rPr>
              <a:t>Label format and uniqueness</a:t>
            </a:r>
          </a:p>
          <a:p>
            <a:pPr algn="l" marL="219456" indent="-219456">
              <a:lnSpc>
                <a:spcPct val="112000"/>
              </a:lnSpc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1C2530"/>
                </a:solidFill>
                <a:latin typeface="Calibri"/>
              </a:rPr>
              <a:t>Balance by entity, in its currency</a:t>
            </a:r>
          </a:p>
          <a:p>
            <a:pPr algn="l" marL="219456" indent="-219456">
              <a:lnSpc>
                <a:spcPct val="112000"/>
              </a:lnSpc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1C2530"/>
                </a:solidFill>
                <a:latin typeface="Calibri"/>
              </a:rPr>
              <a:t>No negative amounts, no debit and credit on one line</a:t>
            </a:r>
          </a:p>
          <a:p>
            <a:pPr algn="l" marL="219456" indent="-219456">
              <a:lnSpc>
                <a:spcPct val="112000"/>
              </a:lnSpc>
              <a:spcAft>
                <a:spcPts val="0"/>
              </a:spcAft>
              <a:buFont typeface="Arial"/>
              <a:buChar char="•"/>
            </a:pPr>
            <a:r>
              <a:rPr sz="1400" b="0" i="0">
                <a:solidFill>
                  <a:srgbClr val="1C2530"/>
                </a:solidFill>
                <a:latin typeface="Calibri"/>
              </a:rPr>
              <a:t>Valid intercompany partners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1908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5B6673"/>
                </a:solidFill>
                <a:latin typeface="Calibri"/>
              </a:rPr>
              <a:t>Lumen Consol · The half-year close in 10 steps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5912" y="641908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5B6673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200" b="1" i="0">
                <a:solidFill>
                  <a:srgbClr val="B8741A"/>
                </a:solidFill>
                <a:latin typeface="Calibri"/>
              </a:rPr>
              <a:t>STEP 8 · D+5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800" b="1" i="0">
                <a:solidFill>
                  <a:srgbClr val="1C2530"/>
                </a:solidFill>
                <a:latin typeface="Cambria"/>
              </a:rPr>
              <a:t>Run the consolidation and follow the calculation</a:t>
            </a:r>
          </a:p>
        </p:txBody>
      </p:sp>
      <p:pic>
        <p:nvPicPr>
          <p:cNvPr id="4" name="Picture 3" descr="shot-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7223760" cy="4514850"/>
          </a:xfrm>
          <a:prstGeom prst="rect">
            <a:avLst/>
          </a:prstGeom>
          <a:ln w="12700">
            <a:solidFill>
              <a:srgbClr val="D5DAE0"/>
            </a:solidFill>
          </a:ln>
        </p:spPr>
      </p:pic>
      <p:sp>
        <p:nvSpPr>
          <p:cNvPr id="5" name="Oval 4"/>
          <p:cNvSpPr/>
          <p:nvPr/>
        </p:nvSpPr>
        <p:spPr>
          <a:xfrm>
            <a:off x="4325459" y="1829121"/>
            <a:ext cx="329184" cy="329184"/>
          </a:xfrm>
          <a:prstGeom prst="ellipse">
            <a:avLst/>
          </a:prstGeom>
          <a:solidFill>
            <a:srgbClr val="B87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5459" y="1829121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Oval 6"/>
          <p:cNvSpPr/>
          <p:nvPr/>
        </p:nvSpPr>
        <p:spPr>
          <a:xfrm>
            <a:off x="5284523" y="1829121"/>
            <a:ext cx="329184" cy="329184"/>
          </a:xfrm>
          <a:prstGeom prst="ellipse">
            <a:avLst/>
          </a:prstGeom>
          <a:solidFill>
            <a:srgbClr val="B87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84523" y="1829121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Oval 8"/>
          <p:cNvSpPr/>
          <p:nvPr/>
        </p:nvSpPr>
        <p:spPr>
          <a:xfrm>
            <a:off x="7040629" y="1829121"/>
            <a:ext cx="329184" cy="329184"/>
          </a:xfrm>
          <a:prstGeom prst="ellipse">
            <a:avLst/>
          </a:prstGeom>
          <a:solidFill>
            <a:srgbClr val="B87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629" y="1829121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Oval 10"/>
          <p:cNvSpPr/>
          <p:nvPr/>
        </p:nvSpPr>
        <p:spPr>
          <a:xfrm>
            <a:off x="8092440" y="1463040"/>
            <a:ext cx="329184" cy="329184"/>
          </a:xfrm>
          <a:prstGeom prst="ellipse">
            <a:avLst/>
          </a:prstGeom>
          <a:solidFill>
            <a:srgbClr val="B87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146304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1481328"/>
            <a:ext cx="3090672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400" b="1" i="0">
                <a:solidFill>
                  <a:srgbClr val="1C2530"/>
                </a:solidFill>
                <a:latin typeface="Calibri"/>
              </a:rPr>
              <a:t>Aggregated</a:t>
            </a:r>
            <a:r>
              <a:rPr sz="1400" b="0" i="0">
                <a:solidFill>
                  <a:srgbClr val="1C2530"/>
                </a:solidFill>
                <a:latin typeface="Calibri"/>
              </a:rPr>
              <a:t>: the four companies translated into euros, added up.</a:t>
            </a:r>
          </a:p>
        </p:txBody>
      </p:sp>
      <p:sp>
        <p:nvSpPr>
          <p:cNvPr id="14" name="Oval 13"/>
          <p:cNvSpPr/>
          <p:nvPr/>
        </p:nvSpPr>
        <p:spPr>
          <a:xfrm>
            <a:off x="8092440" y="2304288"/>
            <a:ext cx="329184" cy="329184"/>
          </a:xfrm>
          <a:prstGeom prst="ellipse">
            <a:avLst/>
          </a:prstGeom>
          <a:solidFill>
            <a:srgbClr val="B87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2304288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322576"/>
            <a:ext cx="3090672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400" b="1" i="0">
                <a:solidFill>
                  <a:srgbClr val="1C2530"/>
                </a:solidFill>
                <a:latin typeface="Calibri"/>
              </a:rPr>
              <a:t>Eliminations</a:t>
            </a:r>
            <a:r>
              <a:rPr sz="1400" b="0" i="0">
                <a:solidFill>
                  <a:srgbClr val="1C2530"/>
                </a:solidFill>
                <a:latin typeface="Calibri"/>
              </a:rPr>
              <a:t>: intercompany (E1 to E5) and investments with NCI (E6).</a:t>
            </a:r>
          </a:p>
        </p:txBody>
      </p:sp>
      <p:sp>
        <p:nvSpPr>
          <p:cNvPr id="17" name="Oval 16"/>
          <p:cNvSpPr/>
          <p:nvPr/>
        </p:nvSpPr>
        <p:spPr>
          <a:xfrm>
            <a:off x="8092440" y="3145536"/>
            <a:ext cx="329184" cy="329184"/>
          </a:xfrm>
          <a:prstGeom prst="ellipse">
            <a:avLst/>
          </a:prstGeom>
          <a:solidFill>
            <a:srgbClr val="B87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3145536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3163824"/>
            <a:ext cx="3090672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400" b="1" i="0">
                <a:solidFill>
                  <a:srgbClr val="1C2530"/>
                </a:solidFill>
                <a:latin typeface="Calibri"/>
              </a:rPr>
              <a:t>Consolidated</a:t>
            </a:r>
            <a:r>
              <a:rPr sz="1400" b="0" i="0">
                <a:solidFill>
                  <a:srgbClr val="1C2530"/>
                </a:solidFill>
                <a:latin typeface="Calibri"/>
              </a:rPr>
              <a:t> = aggregated + eliminations + group journals.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4160520"/>
            <a:ext cx="3547872" cy="1691640"/>
          </a:xfrm>
          <a:prstGeom prst="roundRect">
            <a:avLst>
              <a:gd name="adj" fmla="val 6486"/>
            </a:avLst>
          </a:prstGeom>
          <a:solidFill>
            <a:srgbClr val="FB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4297680"/>
            <a:ext cx="3154680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sz="1500" b="1" i="0">
                <a:solidFill>
                  <a:srgbClr val="1C2530"/>
                </a:solidFill>
                <a:latin typeface="Calibri"/>
              </a:rPr>
              <a:t>Status after the run</a:t>
            </a: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00" b="0" i="0">
                <a:solidFill>
                  <a:srgbClr val="1C2530"/>
                </a:solidFill>
                <a:latin typeface="Calibri"/>
              </a:rPr>
              <a:t>Every entity shows OK. Any later change turns it to Impacted: consolidate again before reading the figures.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1908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5B6673"/>
                </a:solidFill>
                <a:latin typeface="Calibri"/>
              </a:rPr>
              <a:t>Lumen Consol · The half-year close in 10 steps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25912" y="641908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5B6673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200" b="1" i="0">
                <a:solidFill>
                  <a:srgbClr val="B8741A"/>
                </a:solidFill>
                <a:latin typeface="Calibri"/>
              </a:rPr>
              <a:t>STEP 9 · D+6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800" b="1" i="0">
                <a:solidFill>
                  <a:srgbClr val="1C2530"/>
                </a:solidFill>
                <a:latin typeface="Cambria"/>
              </a:rPr>
              <a:t>Review the statements and the four checks</a:t>
            </a:r>
          </a:p>
        </p:txBody>
      </p:sp>
      <p:pic>
        <p:nvPicPr>
          <p:cNvPr id="4" name="Picture 3" descr="shot-st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7223760" cy="4514850"/>
          </a:xfrm>
          <a:prstGeom prst="rect">
            <a:avLst/>
          </a:prstGeom>
          <a:ln w="12700">
            <a:solidFill>
              <a:srgbClr val="D5DAE0"/>
            </a:solidFill>
          </a:ln>
        </p:spPr>
      </p:pic>
      <p:sp>
        <p:nvSpPr>
          <p:cNvPr id="5" name="Oval 4"/>
          <p:cNvSpPr/>
          <p:nvPr/>
        </p:nvSpPr>
        <p:spPr>
          <a:xfrm>
            <a:off x="7204829" y="2352686"/>
            <a:ext cx="329184" cy="329184"/>
          </a:xfrm>
          <a:prstGeom prst="ellipse">
            <a:avLst/>
          </a:prstGeom>
          <a:solidFill>
            <a:srgbClr val="B87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4829" y="2352686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Oval 6"/>
          <p:cNvSpPr/>
          <p:nvPr/>
        </p:nvSpPr>
        <p:spPr>
          <a:xfrm>
            <a:off x="7159109" y="3230832"/>
            <a:ext cx="329184" cy="329184"/>
          </a:xfrm>
          <a:prstGeom prst="ellipse">
            <a:avLst/>
          </a:prstGeom>
          <a:solidFill>
            <a:srgbClr val="B87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59109" y="3230832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Oval 8"/>
          <p:cNvSpPr/>
          <p:nvPr/>
        </p:nvSpPr>
        <p:spPr>
          <a:xfrm>
            <a:off x="8092440" y="1463040"/>
            <a:ext cx="329184" cy="329184"/>
          </a:xfrm>
          <a:prstGeom prst="ellipse">
            <a:avLst/>
          </a:prstGeom>
          <a:solidFill>
            <a:srgbClr val="B87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40" y="146304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1481328"/>
            <a:ext cx="3090672" cy="91439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400" b="1" i="0">
                <a:solidFill>
                  <a:srgbClr val="1C2530"/>
                </a:solidFill>
                <a:latin typeface="Calibri"/>
              </a:rPr>
              <a:t>Key figures</a:t>
            </a:r>
            <a:r>
              <a:rPr sz="1400" b="0" i="0">
                <a:solidFill>
                  <a:srgbClr val="1C2530"/>
                </a:solidFill>
                <a:latin typeface="Calibri"/>
              </a:rPr>
              <a:t>: revenue, net income (group share and NCI), comprehensive income, goodwill.</a:t>
            </a:r>
          </a:p>
        </p:txBody>
      </p:sp>
      <p:sp>
        <p:nvSpPr>
          <p:cNvPr id="12" name="Oval 11"/>
          <p:cNvSpPr/>
          <p:nvPr/>
        </p:nvSpPr>
        <p:spPr>
          <a:xfrm>
            <a:off x="8092440" y="2487168"/>
            <a:ext cx="329184" cy="329184"/>
          </a:xfrm>
          <a:prstGeom prst="ellipse">
            <a:avLst/>
          </a:prstGeom>
          <a:solidFill>
            <a:srgbClr val="B87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2487168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505456"/>
            <a:ext cx="3090672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400" b="1" i="0">
                <a:solidFill>
                  <a:srgbClr val="1C2530"/>
                </a:solidFill>
                <a:latin typeface="Calibri"/>
              </a:rPr>
              <a:t>Summary in plain words</a:t>
            </a:r>
            <a:r>
              <a:rPr sz="1400" b="0" i="0">
                <a:solidFill>
                  <a:srgbClr val="1C2530"/>
                </a:solidFill>
                <a:latin typeface="Calibri"/>
              </a:rPr>
              <a:t> of what the consolidation did.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379476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500" b="1" i="0">
                <a:solidFill>
                  <a:srgbClr val="1C2530"/>
                </a:solidFill>
                <a:latin typeface="Calibri"/>
              </a:rPr>
              <a:t>The four close checks</a:t>
            </a:r>
          </a:p>
        </p:txBody>
      </p:sp>
      <p:sp>
        <p:nvSpPr>
          <p:cNvPr id="16" name="Oval 15"/>
          <p:cNvSpPr/>
          <p:nvPr/>
        </p:nvSpPr>
        <p:spPr>
          <a:xfrm>
            <a:off x="8092440" y="4224528"/>
            <a:ext cx="274320" cy="274320"/>
          </a:xfrm>
          <a:prstGeom prst="ellipse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92440" y="422452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420624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50" b="0" i="0">
                <a:solidFill>
                  <a:srgbClr val="1C2530"/>
                </a:solidFill>
                <a:latin typeface="Calibri"/>
              </a:rPr>
              <a:t>Balance sheet balances</a:t>
            </a:r>
          </a:p>
        </p:txBody>
      </p:sp>
      <p:sp>
        <p:nvSpPr>
          <p:cNvPr id="19" name="Oval 18"/>
          <p:cNvSpPr/>
          <p:nvPr/>
        </p:nvSpPr>
        <p:spPr>
          <a:xfrm>
            <a:off x="8092440" y="4681728"/>
            <a:ext cx="274320" cy="274320"/>
          </a:xfrm>
          <a:prstGeom prst="ellipse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2440" y="468172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466344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50" b="0" i="0">
                <a:solidFill>
                  <a:srgbClr val="1C2530"/>
                </a:solidFill>
                <a:latin typeface="Calibri"/>
              </a:rPr>
              <a:t>No intercompany difference in suspense</a:t>
            </a:r>
          </a:p>
        </p:txBody>
      </p:sp>
      <p:sp>
        <p:nvSpPr>
          <p:cNvPr id="22" name="Oval 21"/>
          <p:cNvSpPr/>
          <p:nvPr/>
        </p:nvSpPr>
        <p:spPr>
          <a:xfrm>
            <a:off x="8092440" y="5138928"/>
            <a:ext cx="274320" cy="274320"/>
          </a:xfrm>
          <a:prstGeom prst="ellipse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92440" y="513892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512064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50" b="0" i="0">
                <a:solidFill>
                  <a:srgbClr val="1C2530"/>
                </a:solidFill>
                <a:latin typeface="Calibri"/>
              </a:rPr>
              <a:t>Investments and loan fully eliminated</a:t>
            </a:r>
          </a:p>
        </p:txBody>
      </p:sp>
      <p:sp>
        <p:nvSpPr>
          <p:cNvPr id="25" name="Oval 24"/>
          <p:cNvSpPr/>
          <p:nvPr/>
        </p:nvSpPr>
        <p:spPr>
          <a:xfrm>
            <a:off x="8092440" y="5596128"/>
            <a:ext cx="274320" cy="274320"/>
          </a:xfrm>
          <a:prstGeom prst="ellipse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92440" y="559612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557784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50" b="0" i="0">
                <a:solidFill>
                  <a:srgbClr val="1C2530"/>
                </a:solidFill>
                <a:latin typeface="Calibri"/>
              </a:rPr>
              <a:t>All entities consolidated with the latest 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1908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5B6673"/>
                </a:solidFill>
                <a:latin typeface="Calibri"/>
              </a:rPr>
              <a:t>Lumen Consol · The half-year close in 10 steps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25912" y="641908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5B6673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200" b="1" i="0">
                <a:solidFill>
                  <a:srgbClr val="B8741A"/>
                </a:solidFill>
                <a:latin typeface="Calibri"/>
              </a:rPr>
              <a:t>STEP 10 · D+8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800" b="1" i="0">
                <a:solidFill>
                  <a:srgbClr val="1C2530"/>
                </a:solidFill>
                <a:latin typeface="Cambria"/>
              </a:rPr>
              <a:t>Sign off the close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6766560" cy="566928"/>
          </a:xfrm>
          <a:prstGeom prst="roundRect">
            <a:avLst>
              <a:gd name="adj" fmla="val 16129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13232" y="1719072"/>
            <a:ext cx="329184" cy="329184"/>
          </a:xfrm>
          <a:prstGeom prst="ellipse">
            <a:avLst/>
          </a:prstGeom>
          <a:solidFill>
            <a:srgbClr val="2F5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719072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728216"/>
            <a:ext cx="594360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500" b="0" i="0">
                <a:solidFill>
                  <a:srgbClr val="1C2530"/>
                </a:solidFill>
                <a:latin typeface="Calibri"/>
              </a:rPr>
              <a:t>Every entity shows OK: no entity Impacted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13432"/>
            <a:ext cx="6766560" cy="566928"/>
          </a:xfrm>
          <a:prstGeom prst="roundRect">
            <a:avLst>
              <a:gd name="adj" fmla="val 16129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13232" y="2432304"/>
            <a:ext cx="329184" cy="329184"/>
          </a:xfrm>
          <a:prstGeom prst="ellipse">
            <a:avLst/>
          </a:prstGeom>
          <a:solidFill>
            <a:srgbClr val="2F5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432304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41448"/>
            <a:ext cx="594360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500" b="0" i="0">
                <a:solidFill>
                  <a:srgbClr val="1C2530"/>
                </a:solidFill>
                <a:latin typeface="Calibri"/>
              </a:rPr>
              <a:t>The four close checks are green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026664"/>
            <a:ext cx="6766560" cy="566928"/>
          </a:xfrm>
          <a:prstGeom prst="roundRect">
            <a:avLst>
              <a:gd name="adj" fmla="val 16129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3232" y="3145536"/>
            <a:ext cx="329184" cy="329184"/>
          </a:xfrm>
          <a:prstGeom prst="ellipse">
            <a:avLst/>
          </a:prstGeom>
          <a:solidFill>
            <a:srgbClr val="2F5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145536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154680"/>
            <a:ext cx="594360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500" b="0" i="0">
                <a:solidFill>
                  <a:srgbClr val="1C2530"/>
                </a:solidFill>
                <a:latin typeface="Calibri"/>
              </a:rPr>
              <a:t>No journal left Submitted or Approved without being posted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739896"/>
            <a:ext cx="6766560" cy="566928"/>
          </a:xfrm>
          <a:prstGeom prst="roundRect">
            <a:avLst>
              <a:gd name="adj" fmla="val 16129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13232" y="3858768"/>
            <a:ext cx="329184" cy="329184"/>
          </a:xfrm>
          <a:prstGeom prst="ellipse">
            <a:avLst/>
          </a:prstGeom>
          <a:solidFill>
            <a:srgbClr val="2F5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3858768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867912"/>
            <a:ext cx="594360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500" b="0" i="0">
                <a:solidFill>
                  <a:srgbClr val="1C2530"/>
                </a:solidFill>
                <a:latin typeface="Calibri"/>
              </a:rPr>
              <a:t>Auto-reversing journals scheduled for July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453128"/>
            <a:ext cx="6766560" cy="566928"/>
          </a:xfrm>
          <a:prstGeom prst="roundRect">
            <a:avLst>
              <a:gd name="adj" fmla="val 16129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3232" y="4572000"/>
            <a:ext cx="329184" cy="329184"/>
          </a:xfrm>
          <a:prstGeom prst="ellipse">
            <a:avLst/>
          </a:prstGeom>
          <a:solidFill>
            <a:srgbClr val="2F5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457200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581144"/>
            <a:ext cx="594360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500" b="0" i="0">
                <a:solidFill>
                  <a:srgbClr val="1C2530"/>
                </a:solidFill>
                <a:latin typeface="Calibri"/>
              </a:rPr>
              <a:t>Commentary ready: revenue, net income, translation reserve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166360"/>
            <a:ext cx="6766560" cy="566928"/>
          </a:xfrm>
          <a:prstGeom prst="roundRect">
            <a:avLst>
              <a:gd name="adj" fmla="val 16129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13232" y="5285232"/>
            <a:ext cx="329184" cy="329184"/>
          </a:xfrm>
          <a:prstGeom prst="ellipse">
            <a:avLst/>
          </a:prstGeom>
          <a:solidFill>
            <a:srgbClr val="2F5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5285232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5294376"/>
            <a:ext cx="594360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500" b="0" i="0">
                <a:solidFill>
                  <a:srgbClr val="1C2530"/>
                </a:solidFill>
                <a:latin typeface="Calibri"/>
              </a:rPr>
              <a:t>CFO sign-off recorded; period locked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0" y="1600200"/>
            <a:ext cx="3867912" cy="4187952"/>
          </a:xfrm>
          <a:prstGeom prst="roundRect">
            <a:avLst>
              <a:gd name="adj" fmla="val 3309"/>
            </a:avLst>
          </a:prstGeom>
          <a:solidFill>
            <a:srgbClr val="1C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92440" y="192024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00" b="1" i="0">
                <a:solidFill>
                  <a:srgbClr val="E9B866"/>
                </a:solidFill>
                <a:latin typeface="Calibri"/>
              </a:rPr>
              <a:t>TARGET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40" y="2286000"/>
            <a:ext cx="329184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6000" b="1" i="0">
                <a:solidFill>
                  <a:srgbClr val="FFFFFF"/>
                </a:solidFill>
                <a:latin typeface="Cambria"/>
              </a:rPr>
              <a:t>Day 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40" y="35204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700" b="0" i="0">
                <a:solidFill>
                  <a:srgbClr val="D6DCE3"/>
                </a:solidFill>
                <a:latin typeface="Calibri"/>
              </a:rPr>
              <a:t>Last year: day 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92440" y="4160520"/>
            <a:ext cx="324612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400" b="0" i="0">
                <a:solidFill>
                  <a:srgbClr val="9AA6B2"/>
                </a:solidFill>
                <a:latin typeface="Calibri"/>
              </a:rPr>
              <a:t>Four days gained by matching intercompany early and correcting with approved journals.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1908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5B6673"/>
                </a:solidFill>
                <a:latin typeface="Calibri"/>
              </a:rPr>
              <a:t>Lumen Consol · The half-year close in 10 steps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25912" y="641908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5B6673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200" b="1" i="0">
                <a:solidFill>
                  <a:srgbClr val="B8741A"/>
                </a:solidFill>
                <a:latin typeface="Calibri"/>
              </a:rPr>
              <a:t>HANDS-ON · 30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800" b="1" i="0">
                <a:solidFill>
                  <a:srgbClr val="1C2530"/>
                </a:solidFill>
                <a:latin typeface="Cambria"/>
              </a:rPr>
              <a:t>Exercises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5468112" cy="4572000"/>
          </a:xfrm>
          <a:prstGeom prst="roundRect">
            <a:avLst>
              <a:gd name="adj" fmla="val 24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800" b="1" i="0">
                <a:solidFill>
                  <a:srgbClr val="1C2530"/>
                </a:solidFill>
                <a:latin typeface="Cambria"/>
              </a:rPr>
              <a:t>Exercise 1 · Clear the invoice in transit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286000"/>
            <a:ext cx="310896" cy="310896"/>
          </a:xfrm>
          <a:prstGeom prst="ellipse">
            <a:avLst/>
          </a:prstGeom>
          <a:solidFill>
            <a:srgbClr val="2F5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8600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304288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400" b="0" i="0">
                <a:solidFill>
                  <a:srgbClr val="1C2530"/>
                </a:solidFill>
                <a:latin typeface="Calibri"/>
              </a:rPr>
              <a:t>On Intercompany, find the line To investigate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761488"/>
            <a:ext cx="310896" cy="310896"/>
          </a:xfrm>
          <a:prstGeom prst="ellipse">
            <a:avLst/>
          </a:prstGeom>
          <a:solidFill>
            <a:srgbClr val="2F5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761488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779776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400" b="0" i="0">
                <a:solidFill>
                  <a:srgbClr val="1C2530"/>
                </a:solidFill>
                <a:latin typeface="Calibri"/>
              </a:rPr>
              <a:t>Create the correcting journal, scan and submit it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236976"/>
            <a:ext cx="310896" cy="310896"/>
          </a:xfrm>
          <a:prstGeom prst="ellipse">
            <a:avLst/>
          </a:prstGeom>
          <a:solidFill>
            <a:srgbClr val="2F5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236976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255264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400" b="0" i="0">
                <a:solidFill>
                  <a:srgbClr val="1C2530"/>
                </a:solidFill>
                <a:latin typeface="Calibri"/>
              </a:rPr>
              <a:t>Switch to Approver and approve; switch back and post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3712464"/>
            <a:ext cx="310896" cy="310896"/>
          </a:xfrm>
          <a:prstGeom prst="ellipse">
            <a:avLst/>
          </a:prstGeom>
          <a:solidFill>
            <a:srgbClr val="2F5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712464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730752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400" b="0" i="0">
                <a:solidFill>
                  <a:srgbClr val="1C2530"/>
                </a:solidFill>
                <a:latin typeface="Calibri"/>
              </a:rPr>
              <a:t>On Group, consolidate again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4343400"/>
            <a:ext cx="4828032" cy="1481328"/>
          </a:xfrm>
          <a:prstGeom prst="roundRect">
            <a:avLst>
              <a:gd name="adj" fmla="val 6172"/>
            </a:avLst>
          </a:prstGeom>
          <a:solidFill>
            <a:srgbClr val="FFFFFF"/>
          </a:solidFill>
          <a:ln w="12700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480560"/>
            <a:ext cx="438912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sz="1400" b="1" i="0">
                <a:solidFill>
                  <a:srgbClr val="2E7D4F"/>
                </a:solidFill>
                <a:latin typeface="Calibri"/>
              </a:rPr>
              <a:t>Expected result</a:t>
            </a: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50" b="0" i="0">
                <a:solidFill>
                  <a:srgbClr val="1C2530"/>
                </a:solidFill>
                <a:latin typeface="Calibri"/>
              </a:rPr>
              <a:t>No line To investigate · suspense at 0 · balance sheet at 54,654 k€ · all four checks OK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1508760"/>
            <a:ext cx="5468112" cy="4572000"/>
          </a:xfrm>
          <a:prstGeom prst="roundRect">
            <a:avLst>
              <a:gd name="adj" fmla="val 24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173736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800" b="1" i="0">
                <a:solidFill>
                  <a:srgbClr val="1C2530"/>
                </a:solidFill>
                <a:latin typeface="Cambria"/>
              </a:rPr>
              <a:t>Exercise 2 · Test a currency move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2286000"/>
            <a:ext cx="310896" cy="310896"/>
          </a:xfrm>
          <a:prstGeom prst="ellipse">
            <a:avLst/>
          </a:prstGeom>
          <a:solidFill>
            <a:srgbClr val="2F5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28600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2304288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400" b="0" i="0">
                <a:solidFill>
                  <a:srgbClr val="1C2530"/>
                </a:solidFill>
                <a:latin typeface="Calibri"/>
              </a:rPr>
              <a:t>On Translation, click Pound sterling −5 %</a:t>
            </a:r>
          </a:p>
        </p:txBody>
      </p:sp>
      <p:sp>
        <p:nvSpPr>
          <p:cNvPr id="25" name="Oval 24"/>
          <p:cNvSpPr/>
          <p:nvPr/>
        </p:nvSpPr>
        <p:spPr>
          <a:xfrm>
            <a:off x="6492240" y="2761488"/>
            <a:ext cx="310896" cy="310896"/>
          </a:xfrm>
          <a:prstGeom prst="ellipse">
            <a:avLst/>
          </a:prstGeom>
          <a:solidFill>
            <a:srgbClr val="2F5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2761488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2779776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400" b="0" i="0">
                <a:solidFill>
                  <a:srgbClr val="1C2530"/>
                </a:solidFill>
                <a:latin typeface="Calibri"/>
              </a:rPr>
              <a:t>Note that UK turns Impacted</a:t>
            </a:r>
          </a:p>
        </p:txBody>
      </p:sp>
      <p:sp>
        <p:nvSpPr>
          <p:cNvPr id="28" name="Oval 27"/>
          <p:cNvSpPr/>
          <p:nvPr/>
        </p:nvSpPr>
        <p:spPr>
          <a:xfrm>
            <a:off x="6492240" y="3236976"/>
            <a:ext cx="310896" cy="310896"/>
          </a:xfrm>
          <a:prstGeom prst="ellipse">
            <a:avLst/>
          </a:prstGeom>
          <a:solidFill>
            <a:srgbClr val="2F5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3236976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3255264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400" b="0" i="0">
                <a:solidFill>
                  <a:srgbClr val="1C2530"/>
                </a:solidFill>
                <a:latin typeface="Calibri"/>
              </a:rPr>
              <a:t>Consolidate again</a:t>
            </a:r>
          </a:p>
        </p:txBody>
      </p:sp>
      <p:sp>
        <p:nvSpPr>
          <p:cNvPr id="31" name="Oval 30"/>
          <p:cNvSpPr/>
          <p:nvPr/>
        </p:nvSpPr>
        <p:spPr>
          <a:xfrm>
            <a:off x="6492240" y="3712464"/>
            <a:ext cx="310896" cy="310896"/>
          </a:xfrm>
          <a:prstGeom prst="ellipse">
            <a:avLst/>
          </a:prstGeom>
          <a:solidFill>
            <a:srgbClr val="2F5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3712464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3730752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400" b="0" i="0">
                <a:solidFill>
                  <a:srgbClr val="1C2530"/>
                </a:solidFill>
                <a:latin typeface="Calibri"/>
              </a:rPr>
              <a:t>Compare the translation reserve and net income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92240" y="4343400"/>
            <a:ext cx="4828032" cy="1481328"/>
          </a:xfrm>
          <a:prstGeom prst="roundRect">
            <a:avLst>
              <a:gd name="adj" fmla="val 6172"/>
            </a:avLst>
          </a:prstGeom>
          <a:solidFill>
            <a:srgbClr val="FFFFFF"/>
          </a:solidFill>
          <a:ln w="12700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20840" y="4480560"/>
            <a:ext cx="438912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sz="1400" b="1" i="0">
                <a:solidFill>
                  <a:srgbClr val="2E7D4F"/>
                </a:solidFill>
                <a:latin typeface="Calibri"/>
              </a:rPr>
              <a:t>Expected result</a:t>
            </a:r>
          </a:p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50" b="0" i="0">
                <a:solidFill>
                  <a:srgbClr val="1C2530"/>
                </a:solidFill>
                <a:latin typeface="Calibri"/>
              </a:rPr>
              <a:t>The translation reserve and comprehensive income fall; net income moves only through the average rate; the balance sheet still balances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1908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5B6673"/>
                </a:solidFill>
                <a:latin typeface="Calibri"/>
              </a:rPr>
              <a:t>Lumen Consol · The half-year close in 10 steps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5912" y="641908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5B6673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200" b="1" i="0">
                <a:solidFill>
                  <a:srgbClr val="B8741A"/>
                </a:solidFill>
                <a:latin typeface="Calibri"/>
              </a:rPr>
              <a:t>TIPS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2800" b="1" i="0">
                <a:solidFill>
                  <a:srgbClr val="1C2530"/>
                </a:solidFill>
                <a:latin typeface="Cambria"/>
              </a:rPr>
              <a:t>Common mistakes and how to avoid them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59" y="1783080"/>
            <a:ext cx="384048" cy="384048"/>
          </a:xfrm>
          <a:prstGeom prst="ellipse">
            <a:avLst/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7830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600" b="1" i="0">
                <a:solidFill>
                  <a:srgbClr val="B42318"/>
                </a:solidFill>
                <a:latin typeface="Calibri"/>
              </a:rPr>
              <a:t>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764792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450" b="1" i="0">
                <a:solidFill>
                  <a:srgbClr val="1C2530"/>
                </a:solidFill>
                <a:latin typeface="Calibri"/>
              </a:rPr>
              <a:t>Editing the package to fix a difference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560320"/>
            <a:ext cx="306324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50" b="0" i="0">
                <a:solidFill>
                  <a:srgbClr val="2F5D62"/>
                </a:solidFill>
                <a:latin typeface="Calibri"/>
              </a:rPr>
              <a:t>Post a journal: the package stays as submitted.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150876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71999" y="1783080"/>
            <a:ext cx="384048" cy="384048"/>
          </a:xfrm>
          <a:prstGeom prst="ellipse">
            <a:avLst/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1999" y="17830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600" b="1" i="0">
                <a:solidFill>
                  <a:srgbClr val="B42318"/>
                </a:solidFill>
                <a:latin typeface="Calibri"/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1764792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450" b="1" i="0">
                <a:solidFill>
                  <a:srgbClr val="1C2530"/>
                </a:solidFill>
                <a:latin typeface="Calibri"/>
              </a:rPr>
              <a:t>Forgetting the partner on an intercompany 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1999" y="2560320"/>
            <a:ext cx="306324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50" b="0" i="0">
                <a:solidFill>
                  <a:srgbClr val="2F5D62"/>
                </a:solidFill>
                <a:latin typeface="Calibri"/>
              </a:rPr>
              <a:t>Every internal balance needs its partner, or matching cannot pair 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150876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321040" y="1783080"/>
            <a:ext cx="384048" cy="384048"/>
          </a:xfrm>
          <a:prstGeom prst="ellipse">
            <a:avLst/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7830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600" b="1" i="0">
                <a:solidFill>
                  <a:srgbClr val="B42318"/>
                </a:solidFill>
                <a:latin typeface="Calibri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1764792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450" b="1" i="0">
                <a:solidFill>
                  <a:srgbClr val="1C2530"/>
                </a:solidFill>
                <a:latin typeface="Calibri"/>
              </a:rPr>
              <a:t>Investigating tiny FX differences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560320"/>
            <a:ext cx="306324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50" b="0" i="0">
                <a:solidFill>
                  <a:srgbClr val="2F5D62"/>
                </a:solidFill>
                <a:latin typeface="Calibri"/>
              </a:rPr>
              <a:t>Up to 10 k€ they are accepted and go to finance result automatically.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840479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59" y="4114799"/>
            <a:ext cx="384048" cy="384048"/>
          </a:xfrm>
          <a:prstGeom prst="ellipse">
            <a:avLst/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411479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600" b="1" i="0">
                <a:solidFill>
                  <a:srgbClr val="B42318"/>
                </a:solidFill>
                <a:latin typeface="Calibri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096511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450" b="1" i="0">
                <a:solidFill>
                  <a:srgbClr val="1C2530"/>
                </a:solidFill>
                <a:latin typeface="Calibri"/>
              </a:rPr>
              <a:t>Reading figures from an old run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59" y="4892040"/>
            <a:ext cx="306324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50" b="0" i="0">
                <a:solidFill>
                  <a:srgbClr val="2F5D62"/>
                </a:solidFill>
                <a:latin typeface="Calibri"/>
              </a:rPr>
              <a:t>If an entity shows Impacted, consolidate again first.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79" y="3840479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571999" y="4114799"/>
            <a:ext cx="384048" cy="384048"/>
          </a:xfrm>
          <a:prstGeom prst="ellipse">
            <a:avLst/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1999" y="411479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600" b="1" i="0">
                <a:solidFill>
                  <a:srgbClr val="B42318"/>
                </a:solidFill>
                <a:latin typeface="Calibri"/>
              </a:rPr>
              <a:t>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4096511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450" b="1" i="0">
                <a:solidFill>
                  <a:srgbClr val="1C2530"/>
                </a:solidFill>
                <a:latin typeface="Calibri"/>
              </a:rPr>
              <a:t>Approving and posting the same journal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1999" y="4892040"/>
            <a:ext cx="306324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50" b="0" i="0">
                <a:solidFill>
                  <a:srgbClr val="2F5D62"/>
                </a:solidFill>
                <a:latin typeface="Calibri"/>
              </a:rPr>
              <a:t>Approver and poster must be two different people.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19" y="3840479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321040" y="4114799"/>
            <a:ext cx="384048" cy="384048"/>
          </a:xfrm>
          <a:prstGeom prst="ellipse">
            <a:avLst/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0" y="411479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</a:pPr>
            <a:r>
              <a:rPr sz="1600" b="1" i="0">
                <a:solidFill>
                  <a:srgbClr val="B42318"/>
                </a:solidFill>
                <a:latin typeface="Calibri"/>
              </a:rPr>
              <a:t>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0" y="4096511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450" b="1" i="0">
                <a:solidFill>
                  <a:srgbClr val="1C2530"/>
                </a:solidFill>
                <a:latin typeface="Calibri"/>
              </a:rPr>
              <a:t>Raising a difference at D+4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4892040"/>
            <a:ext cx="306324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350" b="0" i="0">
                <a:solidFill>
                  <a:srgbClr val="2F5D62"/>
                </a:solidFill>
                <a:latin typeface="Calibri"/>
              </a:rPr>
              <a:t>Call your counterpart as soon as matching shows the gap.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1908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5B6673"/>
                </a:solidFill>
                <a:latin typeface="Calibri"/>
              </a:rPr>
              <a:t>Lumen Consol · The half-year close in 10 steps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25912" y="641908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5B6673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326880" y="4206240"/>
            <a:ext cx="3474720" cy="3474720"/>
          </a:xfrm>
          <a:prstGeom prst="ellipse">
            <a:avLst/>
          </a:prstGeom>
          <a:solidFill>
            <a:srgbClr val="B8741A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104120" y="4983480"/>
            <a:ext cx="1920240" cy="1920240"/>
          </a:xfrm>
          <a:prstGeom prst="ellipse">
            <a:avLst/>
          </a:prstGeom>
          <a:solidFill>
            <a:srgbClr val="B8741A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400" b="1" i="0">
                <a:solidFill>
                  <a:srgbClr val="E9B866"/>
                </a:solidFill>
                <a:latin typeface="Calibri"/>
              </a:rPr>
              <a:t>SUPPORT AND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914400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4000" b="1" i="0">
                <a:solidFill>
                  <a:srgbClr val="FFFFFF"/>
                </a:solidFill>
                <a:latin typeface="Cambria"/>
              </a:rPr>
              <a:t>Questions and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060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Calibri"/>
              </a:rPr>
              <a:t>During the close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08960"/>
            <a:ext cx="3200400" cy="1828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19456" indent="-219456">
              <a:lnSpc>
                <a:spcPct val="112000"/>
              </a:lnSpc>
              <a:spcAft>
                <a:spcPts val="600"/>
              </a:spcAft>
              <a:buFont typeface="Arial"/>
              <a:buChar char="•"/>
            </a:pPr>
            <a:r>
              <a:rPr sz="1450" b="0" i="0">
                <a:solidFill>
                  <a:srgbClr val="D6DCE3"/>
                </a:solidFill>
                <a:latin typeface="Calibri"/>
              </a:rPr>
              <a:t>Group consolidation team: first contact for any question</a:t>
            </a:r>
          </a:p>
          <a:p>
            <a:pPr algn="l" marL="219456" indent="-219456">
              <a:lnSpc>
                <a:spcPct val="112000"/>
              </a:lnSpc>
              <a:spcAft>
                <a:spcPts val="0"/>
              </a:spcAft>
              <a:buFont typeface="Arial"/>
              <a:buChar char="•"/>
            </a:pPr>
            <a:r>
              <a:rPr sz="1450" b="0" i="0">
                <a:solidFill>
                  <a:srgbClr val="D6DCE3"/>
                </a:solidFill>
                <a:latin typeface="Calibri"/>
              </a:rPr>
              <a:t>User guide and this deck on the finance intranet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26060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Calibri"/>
              </a:rPr>
              <a:t>Application issues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3108960"/>
            <a:ext cx="3200400" cy="1828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19456" indent="-219456">
              <a:lnSpc>
                <a:spcPct val="112000"/>
              </a:lnSpc>
              <a:spcAft>
                <a:spcPts val="600"/>
              </a:spcAft>
              <a:buFont typeface="Arial"/>
              <a:buChar char="•"/>
            </a:pPr>
            <a:r>
              <a:rPr sz="1450" b="0" i="0">
                <a:solidFill>
                  <a:srgbClr val="D6DCE3"/>
                </a:solidFill>
                <a:latin typeface="Calibri"/>
              </a:rPr>
              <a:t>IT support logs the incident</a:t>
            </a:r>
          </a:p>
          <a:p>
            <a:pPr algn="l" marL="219456" indent="-219456">
              <a:lnSpc>
                <a:spcPct val="112000"/>
              </a:lnSpc>
              <a:spcAft>
                <a:spcPts val="0"/>
              </a:spcAft>
              <a:buFont typeface="Arial"/>
              <a:buChar char="•"/>
            </a:pPr>
            <a:r>
              <a:rPr sz="1450" b="0" i="0">
                <a:solidFill>
                  <a:srgbClr val="D6DCE3"/>
                </a:solidFill>
                <a:latin typeface="Calibri"/>
              </a:rPr>
              <a:t>Oracle support request (SR) raised by IT when needed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26060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Calibri"/>
              </a:rPr>
              <a:t>Next 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3108960"/>
            <a:ext cx="3200400" cy="1828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19456" indent="-219456">
              <a:lnSpc>
                <a:spcPct val="112000"/>
              </a:lnSpc>
              <a:spcAft>
                <a:spcPts val="600"/>
              </a:spcAft>
              <a:buFont typeface="Arial"/>
              <a:buChar char="•"/>
            </a:pPr>
            <a:r>
              <a:rPr sz="1450" b="0" i="0">
                <a:solidFill>
                  <a:srgbClr val="D6DCE3"/>
                </a:solidFill>
                <a:latin typeface="Calibri"/>
              </a:rPr>
              <a:t>Parallel run on the November close (1 to 14 December 2026)</a:t>
            </a:r>
          </a:p>
          <a:p>
            <a:pPr algn="l" marL="219456" indent="-219456">
              <a:lnSpc>
                <a:spcPct val="112000"/>
              </a:lnSpc>
              <a:spcAft>
                <a:spcPts val="0"/>
              </a:spcAft>
              <a:buFont typeface="Arial"/>
              <a:buChar char="•"/>
            </a:pPr>
            <a:r>
              <a:rPr sz="1450" b="0" i="0">
                <a:solidFill>
                  <a:srgbClr val="D6DCE3"/>
                </a:solidFill>
                <a:latin typeface="Calibri"/>
              </a:rPr>
              <a:t>Go-live on the year-end close (8 January 2027)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9893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9AA6B2"/>
                </a:solidFill>
                <a:latin typeface="Calibri"/>
              </a:rPr>
              <a:t>Maison Lumen and all data in this deck are fictional · Portfolio sample by Gaurav Sharma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half-year close in 10 steps</dc:title>
  <dc:subject/>
  <dc:creator>Gaurav Sharma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